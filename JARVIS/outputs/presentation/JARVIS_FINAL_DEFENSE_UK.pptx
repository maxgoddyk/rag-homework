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5f7325afdf4337" /><Relationship Type="http://schemas.openxmlformats.org/officeDocument/2006/relationships/extended-properties" Target="/docProps/app.xml" Id="Rc4b24c6d58894b59" /><Relationship Type="http://schemas.openxmlformats.org/officeDocument/2006/relationships/officeDocument" Target="/ppt/presentation.xml" Id="Rbc80ab8ad1df4bf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c4622a48d364a09"/>
  </p:sldMasterIdLst>
  <p:notesMasterIdLst>
    <p:notesMasterId xmlns:r="http://schemas.openxmlformats.org/officeDocument/2006/relationships" r:id="Ra3e891d42a4140ff"/>
  </p:notesMasterIdLst>
  <p:sldIdLst>
    <p:sldId xmlns:r="http://schemas.openxmlformats.org/officeDocument/2006/relationships" id="256" r:id="R8e9e9223779a4efc"/>
    <p:sldId xmlns:r="http://schemas.openxmlformats.org/officeDocument/2006/relationships" id="257" r:id="Ra5d0f0fb7eaa48d6"/>
    <p:sldId xmlns:r="http://schemas.openxmlformats.org/officeDocument/2006/relationships" id="258" r:id="Ra0fdfbe7002f40bd"/>
    <p:sldId xmlns:r="http://schemas.openxmlformats.org/officeDocument/2006/relationships" id="259" r:id="R596686c1b8474605"/>
    <p:sldId xmlns:r="http://schemas.openxmlformats.org/officeDocument/2006/relationships" id="260" r:id="R7aec111bb33e4998"/>
    <p:sldId xmlns:r="http://schemas.openxmlformats.org/officeDocument/2006/relationships" id="261" r:id="Rc0703607129542ab"/>
    <p:sldId xmlns:r="http://schemas.openxmlformats.org/officeDocument/2006/relationships" id="262" r:id="R23578347d8b849d2"/>
    <p:sldId xmlns:r="http://schemas.openxmlformats.org/officeDocument/2006/relationships" id="263" r:id="Rb2720b43d87841f8"/>
    <p:sldId xmlns:r="http://schemas.openxmlformats.org/officeDocument/2006/relationships" id="264" r:id="R2d470eedbcff486c"/>
    <p:sldId xmlns:r="http://schemas.openxmlformats.org/officeDocument/2006/relationships" id="265" r:id="R73e14a4ee484469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c909187b75459c" /><Relationship Type="http://schemas.openxmlformats.org/officeDocument/2006/relationships/slideMaster" Target="/ppt/slideMasters/slideMaster1.xml" Id="R4c4622a48d364a09" /><Relationship Type="http://schemas.openxmlformats.org/officeDocument/2006/relationships/notesMaster" Target="/ppt/notesMasters/notesMaster1.xml" Id="Ra3e891d42a4140ff" /><Relationship Type="http://schemas.openxmlformats.org/officeDocument/2006/relationships/presProps" Target="/ppt/presProps.xml" Id="R32d0c9b14bc8491f" /><Relationship Type="http://schemas.openxmlformats.org/officeDocument/2006/relationships/tableStyles" Target="/ppt/tableStyles.xml" Id="R8bc1b4416a4242af" /><Relationship Type="http://schemas.openxmlformats.org/officeDocument/2006/relationships/slide" Target="/ppt/slides/slide1.xml" Id="R8e9e9223779a4efc" /><Relationship Type="http://schemas.openxmlformats.org/officeDocument/2006/relationships/slide" Target="/ppt/slides/slide2.xml" Id="Ra5d0f0fb7eaa48d6" /><Relationship Type="http://schemas.openxmlformats.org/officeDocument/2006/relationships/slide" Target="/ppt/slides/slide3.xml" Id="Ra0fdfbe7002f40bd" /><Relationship Type="http://schemas.openxmlformats.org/officeDocument/2006/relationships/slide" Target="/ppt/slides/slide4.xml" Id="R596686c1b8474605" /><Relationship Type="http://schemas.openxmlformats.org/officeDocument/2006/relationships/slide" Target="/ppt/slides/slide5.xml" Id="R7aec111bb33e4998" /><Relationship Type="http://schemas.openxmlformats.org/officeDocument/2006/relationships/slide" Target="/ppt/slides/slide6.xml" Id="Rc0703607129542ab" /><Relationship Type="http://schemas.openxmlformats.org/officeDocument/2006/relationships/slide" Target="/ppt/slides/slide7.xml" Id="R23578347d8b849d2" /><Relationship Type="http://schemas.openxmlformats.org/officeDocument/2006/relationships/slide" Target="/ppt/slides/slide8.xml" Id="Rb2720b43d87841f8" /><Relationship Type="http://schemas.openxmlformats.org/officeDocument/2006/relationships/slide" Target="/ppt/slides/slide9.xml" Id="R2d470eedbcff486c" /><Relationship Type="http://schemas.openxmlformats.org/officeDocument/2006/relationships/slide" Target="/ppt/slides/slide10.xml" Id="R73e14a4ee48446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49afbf756041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3a2900ba11e420d" /><Relationship Type="http://schemas.openxmlformats.org/officeDocument/2006/relationships/notesMaster" Target="/ppt/notesMasters/notesMaster1.xml" Id="R173a6e48ac9e489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b7d41f0c8b94203" /><Relationship Type="http://schemas.openxmlformats.org/officeDocument/2006/relationships/notesMaster" Target="/ppt/notesMasters/notesMaster1.xml" Id="R446f02b0f8cf4c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9d52bd5ad441b3" /><Relationship Type="http://schemas.openxmlformats.org/officeDocument/2006/relationships/notesMaster" Target="/ppt/notesMasters/notesMaster1.xml" Id="R4ba19b61b9d34c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a2900b817a0487a" /><Relationship Type="http://schemas.openxmlformats.org/officeDocument/2006/relationships/notesMaster" Target="/ppt/notesMasters/notesMaster1.xml" Id="R429b633c230b44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ea3390397c4cfc" /><Relationship Type="http://schemas.openxmlformats.org/officeDocument/2006/relationships/notesMaster" Target="/ppt/notesMasters/notesMaster1.xml" Id="Ra445a9834da249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2035616e0a34bd6" /><Relationship Type="http://schemas.openxmlformats.org/officeDocument/2006/relationships/notesMaster" Target="/ppt/notesMasters/notesMaster1.xml" Id="Rfbab9177982a44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64a0d79122d4450" /><Relationship Type="http://schemas.openxmlformats.org/officeDocument/2006/relationships/notesMaster" Target="/ppt/notesMasters/notesMaster1.xml" Id="R0f6055f386364bd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0c2ef7f7c3b4050" /><Relationship Type="http://schemas.openxmlformats.org/officeDocument/2006/relationships/notesMaster" Target="/ppt/notesMasters/notesMaster1.xml" Id="Rc86b252365d54bc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17e98cd38c3406c" /><Relationship Type="http://schemas.openxmlformats.org/officeDocument/2006/relationships/notesMaster" Target="/ppt/notesMasters/notesMaster1.xml" Id="R969c6be550ca40d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2d28171b8c64dd1" /><Relationship Type="http://schemas.openxmlformats.org/officeDocument/2006/relationships/notesMaster" Target="/ppt/notesMasters/notesMaster1.xml" Id="R55b5c831ad8a4ec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Добрий день. Я презентую JARVIS — локальний desktop RAG над файлами та репозиторіями користувача. Моєю метою було зробити контрольований шлях від зміни файлу до grounded-відповіді з перевіреним джерелом.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C:/Все мои проэкты/rag-homework/JARVIS/README.md</a:t>
            </a:r>
          </a:p>
          <a:p xmlns:a="http://schemas.openxmlformats.org/drawingml/2006/main">
            <a:r>
              <a:t>- C:/Все мои проэкты/rag-homework/JARVIS/docs/ARCHITECTURE.md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Selector файлу вже був у UI, але candidate set міг формуватися глобально. За малого top-k chunk іншого документа витісняв evidence обраного файлу. Це retrieval bug, а не косметична проблема.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C:/Все мои проэкты/rag-homework/JARVIS/FINAL_IMPROVEMENT.md</a:t>
            </a:r>
          </a:p>
          <a:p xmlns:a="http://schemas.openxmlformats.org/drawingml/2006/main">
            <a:r>
              <a:t>- C:/Все мои проэкты/rag-homework/JARVIS/tests/test_desktop_rag.py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 зміни global top-1 міг належати other.md і після пізнього filter не залишалося нічого. Тепер JARVIS спочатку будує eligible document IDs, тому selected.md конкурує лише у власному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C:/Все мои проэкты/rag-homework/JARVIS/FINAL_IMPROVEMENT.md</a:t>
            </a:r>
          </a:p>
          <a:p xmlns:a="http://schemas.openxmlformats.org/drawingml/2006/main">
            <a:r>
              <a:t>- C:/Все мои проэкты/rag-homework/JARVIS/jarvis/retrieval.py</a:t>
            </a:r>
          </a:p>
          <a:p xmlns:a="http://schemas.openxmlformats.org/drawingml/2006/main">
            <a:r>
              <a:t>- C:/Все мои проэкты/rag-homework/JARVIS/tests/test_desktop_rag.py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 схемі показаний увесь workflow: incremental sync, вибір corpus і representation, hybrid retrieval та grounded answering. Повна вертикальна схема значно більша за слайд і збережена окремо у PNG/SVG для масштабування.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C:/Все мои проэкты/rag-homework/JARVIS/docs/WORKFLOW_GRAPH.md</a:t>
            </a:r>
          </a:p>
          <a:p xmlns:a="http://schemas.openxmlformats.org/drawingml/2006/main">
            <a:r>
              <a:t>- C:/Все мои проэкты/rag-homework/JARVIS/outputs/presentation/JARVIS_WORKFLOW_SLIDE.png</a:t>
            </a:r>
          </a:p>
          <a:p xmlns:a="http://schemas.openxmlformats.org/drawingml/2006/main">
            <a:r>
              <a:t>- C:/Все мои проэкты/rag-homework/JARVIS/outputs/presentation/JARVIS_WORKFLOW.png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Перед питанням JARVIS порівнює size і mtime, а SHA-256 рахує лише для потенційних змін. Старі версії переходять у history. Текст зберігається у Sheets, локально — лише відновлюваний vector cache без текстів.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C:/Все мои проэкты/rag-homework/JARVIS/docs/ARCHITECTURE.md</a:t>
            </a:r>
          </a:p>
          <a:p xmlns:a="http://schemas.openxmlformats.org/drawingml/2006/main">
            <a:r>
              <a:t>- C:/Все мои проэкты/rag-homework/JARVIS/jarvis/ingestion/service.py</a:t>
            </a:r>
          </a:p>
          <a:p xmlns:a="http://schemas.openxmlformats.org/drawingml/2006/main">
            <a:r>
              <a:t>- C:/Все мои проэкты/rag-homework/JARVIS/jarvis/ingestion/vector_index.py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 cloud route FAISS повертає IDs. Text-free maps одразу перевіряють document і representation. Тільки дозволені rows читаються batch-запитом, після чого BM25, graph expansion і BGE уточнюють порядок.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C:/Все мои проэкты/rag-homework/JARVIS/docs/ARCHITECTURE.md</a:t>
            </a:r>
          </a:p>
          <a:p xmlns:a="http://schemas.openxmlformats.org/drawingml/2006/main">
            <a:r>
              <a:t>- C:/Все мои проэкты/rag-homework/JARVIS/jarvis/retrieval.py</a:t>
            </a:r>
          </a:p>
          <a:p xmlns:a="http://schemas.openxmlformats.org/drawingml/2006/main">
            <a:r>
              <a:t>- C:/Все мои проэкты/rag-homework/JARVIS/jarvis/ingestion/vector_index.py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gate не передає у модель слабкий контекст. Qwen3 повертає structured JSON, citations перевіряються. Якщо evidence немає або cloud storage недоступний, JARVIS повертає чесний fallback чи sync 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C:/Все мои проэкты/rag-homework/JARVIS/FINAL_IMPROVEMENT.md</a:t>
            </a:r>
          </a:p>
          <a:p xmlns:a="http://schemas.openxmlformats.org/drawingml/2006/main">
            <a:r>
              <a:t>- C:/Все мои проэкты/rag-homework/JARVIS/jarvis/rag.py</a:t>
            </a:r>
          </a:p>
          <a:p xmlns:a="http://schemas.openxmlformats.org/drawingml/2006/main">
            <a:r>
              <a:t>- C:/Все мои проэкты/rag-homework/JARVIS/jarvis/retrieval.py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 desktop проєкти — це розкривні папки, а chats вкладені під ними. Перемикання очищає попередній стан і захищене від запізнілих відповідей backend. Однаковий абсолютний шлях не дублюється. Conversations можна перейменувати, архівувати та відновити. Робоча область повністю віддана чату, а corpus обирається у верхньому selector.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C:/Все мои проэкты/rag-homework/JARVIS/outputs/presentation/jarvis-working.png</a:t>
            </a:r>
          </a:p>
          <a:p xmlns:a="http://schemas.openxmlformats.org/drawingml/2006/main">
            <a:r>
              <a:t>- C:/Все мои проэкты/rag-homework/JARVIS/docs/IMPLEMENTATION_STATUS.md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Перевірка не обмежується скриншотом: 44 tests passed. Live sync проєкту Сашен сайт дав 975 current chunks, 975 document mappings і нуль локальних текстових chunks. EXE, MSI та NSIS зібрані на Python 3.12 runtime.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C:/Все мои проэкты/rag-homework/JARVIS/docs/IMPLEMENTATION_STATUS.md</a:t>
            </a:r>
          </a:p>
          <a:p xmlns:a="http://schemas.openxmlformats.org/drawingml/2006/main">
            <a:r>
              <a:t>- C:/Все мои проэкты/rag-homework/JARVIS/tests/test_desktop_rag.py</a:t>
            </a:r>
          </a:p>
          <a:p xmlns:a="http://schemas.openxmlformats.org/drawingml/2006/main">
            <a:r>
              <a:t>- C:/Все мои проэкты/rag-homework/JARVIS/tests/test_desktop_source_contract.py</a:t>
            </a:r>
          </a:p>
          <a:p xmlns:a="http://schemas.openxmlformats.org/drawingml/2006/main">
            <a:r>
              <a:t>- C:/Все мои проэкты/rag-homework/JARVIS/tests/test_jarvis_sheets.py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Головний результат — selector corpus тепер реально керує retrieval. Я чесно фіксую обмеження: Sheets повільніший за production DB, threshold треба калібрувати, OCR/media ще не готові, а code editing навмисно вимкнений.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C:/Все мои проэкты/rag-homework/JARVIS/FINAL_IMPROVEMENT.md</a:t>
            </a:r>
          </a:p>
          <a:p xmlns:a="http://schemas.openxmlformats.org/drawingml/2006/main">
            <a:r>
              <a:t>- C:/Все мои проэкты/rag-homework/JARVIS/docs/IMPLEMENTATION_STATUS.md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e43e7db59549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a8ef2d939ff45ad" /><Relationship Type="http://schemas.openxmlformats.org/officeDocument/2006/relationships/slideLayout" Target="/ppt/slideLayouts/slideLayout1.xml" Id="R488c00a4a0ef47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8c00a4a0ef47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dae5fe64f64b81" /><Relationship Type="http://schemas.openxmlformats.org/officeDocument/2006/relationships/notesSlide" Target="/ppt/notesSlides/notesSlide1.xml" Id="R7be56fbe5a634b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ac9fe92e7b4a30" /><Relationship Type="http://schemas.openxmlformats.org/officeDocument/2006/relationships/notesSlide" Target="/ppt/notesSlides/notesSlide2.xml" Id="R99400aa99ea446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c1419542f4849" /><Relationship Type="http://schemas.openxmlformats.org/officeDocument/2006/relationships/notesSlide" Target="/ppt/notesSlides/notesSlide3.xml" Id="R42acda2d23274c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3322ec0f454204" /><Relationship Type="http://schemas.openxmlformats.org/officeDocument/2006/relationships/image" Target="/ppt/media/image.jpeg" Id="R113268886aac412d" /><Relationship Type="http://schemas.openxmlformats.org/officeDocument/2006/relationships/image" Target="/ppt/media/image.svg" Id="Rf323b014608a4364" /><Relationship Type="http://schemas.openxmlformats.org/officeDocument/2006/relationships/notesSlide" Target="/ppt/notesSlides/notesSlide4.xml" Id="Rbb6ea1e9148141c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eab67149124751" /><Relationship Type="http://schemas.openxmlformats.org/officeDocument/2006/relationships/notesSlide" Target="/ppt/notesSlides/notesSlide5.xml" Id="Re3024270046543d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a2612eb2814175" /><Relationship Type="http://schemas.openxmlformats.org/officeDocument/2006/relationships/notesSlide" Target="/ppt/notesSlides/notesSlide6.xml" Id="Racb0b3deff2243d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c5013f59fb4b1b" /><Relationship Type="http://schemas.openxmlformats.org/officeDocument/2006/relationships/notesSlide" Target="/ppt/notesSlides/notesSlide7.xml" Id="Ra932ae51a4704f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2da7a599e4b7d" /><Relationship Type="http://schemas.openxmlformats.org/officeDocument/2006/relationships/image" Target="/ppt/media/image.jpeg" Id="R7ee30a642d1c48a3" /><Relationship Type="http://schemas.openxmlformats.org/officeDocument/2006/relationships/notesSlide" Target="/ppt/notesSlides/notesSlide8.xml" Id="Re790cfb08ae340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0497eb9c12486b" /><Relationship Type="http://schemas.openxmlformats.org/officeDocument/2006/relationships/notesSlide" Target="/ppt/notesSlides/notesSlide9.xml" Id="Rd787662bed8b4ed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b7e56c72744762" /><Relationship Type="http://schemas.openxmlformats.org/officeDocument/2006/relationships/notesSlide" Target="/ppt/notesSlides/notesSlide10.xml" Id="Rb0239f89efac474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8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F3AFC5-35A1-4E7B-8AAF-7561DABE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47CDFD-2411-4675-A73D-4D3161B3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0150"/>
            <a:ext cx="7048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JARVIS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32F8F3-3561-4AAF-8712-459911DA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685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D0D5DD"/>
                </a:solidFill>
              </a:defRPr>
            </a:pPr>
            <a:r>
              <a:rPr sz="2325" b="0">
                <a:solidFill>
                  <a:srgbClr val="D0D5DD"/>
                </a:solidFill>
              </a:rPr>
              <a:t>Локальний desktop RAG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D0D5DD"/>
                </a:solidFill>
              </a:defRPr>
            </a:pPr>
            <a:r>
              <a:rPr sz="2325" b="0">
                <a:solidFill>
                  <a:srgbClr val="D0D5DD"/>
                </a:solidFill>
              </a:rPr>
              <a:t>над файлами та репозиторіями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3AA99A-BEE2-401B-846F-9B8A891F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7667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84ADFF"/>
                </a:solidFill>
              </a:defRPr>
            </a:pPr>
            <a:r>
              <a:rPr sz="1275" b="1">
                <a:solidFill>
                  <a:srgbClr val="84ADFF"/>
                </a:solidFill>
              </a:rPr>
              <a:t>Фінальне технічне доопрацювання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3B7D6-B2A5-4257-9148-8AF12313F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495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054"/>
          </a:solidFill>
          <a:ln xmlns:a="http://schemas.openxmlformats.org/drawingml/2006/main" w="0">
            <a:solidFill>
              <a:srgbClr val="34405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1A5B41-1791-41C1-AF26-1D986EF82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685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8A2B3"/>
                </a:solidFill>
              </a:defRPr>
            </a:pPr>
            <a:r>
              <a:rPr sz="1275" b="0">
                <a:solidFill>
                  <a:srgbClr val="98A2B3"/>
                </a:solidFill>
              </a:rPr>
              <a:t>incremental sync  ·  early scope  ·  hybrid retrieval  ·  citations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177950-D3DF-4A56-B51F-79297B10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524000"/>
            <a:ext cx="1562100" cy="156210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82230"/>
          </a:solidFill>
          <a:ln xmlns:a="http://schemas.openxmlformats.org/drawingml/2006/main" w="9525">
            <a:solidFill>
              <a:srgbClr val="34405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20E09-9678-4F83-9EAC-C8B945BD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600200"/>
            <a:ext cx="9144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0" b="1">
                <a:solidFill>
                  <a:srgbClr val="84ADFF"/>
                </a:solidFill>
              </a:defRPr>
            </a:pPr>
            <a:r>
              <a:rPr sz="6450" b="1">
                <a:solidFill>
                  <a:srgbClr val="84ADFF"/>
                </a:solidFill>
              </a:rPr>
              <a:t>J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F2E0E0-BF12-42A0-94AF-D386310B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766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98A2B3"/>
                </a:solidFill>
              </a:defRPr>
            </a:pPr>
            <a:r>
              <a:rPr sz="1050" b="1">
                <a:solidFill>
                  <a:srgbClr val="98A2B3"/>
                </a:solidFill>
              </a:rPr>
              <a:t>DESKTOP RAG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8BA947-4BF7-4C5E-A11C-7D169F92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0075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0D5DD"/>
                </a:solidFill>
              </a:defRPr>
            </a:pPr>
            <a:r>
              <a:rPr sz="1350" b="0">
                <a:solidFill>
                  <a:srgbClr val="D0D5DD"/>
                </a:solidFill>
              </a:rPr>
              <a:t>Локально. Контрольовано. З доказами.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8F84D4-3F83-4059-89F8-19FD142D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67085"/>
                </a:solidFill>
              </a:defRPr>
            </a:pPr>
            <a:r>
              <a:rPr sz="975" b="1">
                <a:solidFill>
                  <a:srgbClr val="66708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671651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A0B5C0-B648-485A-80C6-5404755F9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A49153-CBB6-40AA-898B-BF379E09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F80ED"/>
                </a:solidFill>
              </a:defRPr>
            </a:pPr>
            <a:r>
              <a:rPr sz="975" b="1">
                <a:solidFill>
                  <a:srgbClr val="2F80ED"/>
                </a:solidFill>
              </a:rPr>
              <a:t>ПРОБЛЕМА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50DCBB-6D1E-44ED-A50D-DC34EE7D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Реальна слабка точка: фільтр спрацьовував запізно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5C2EA7-1085-447B-87D7-3AE1662CD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98A2B3"/>
                </a:solidFill>
              </a:defRPr>
            </a:pPr>
            <a:r>
              <a:rPr sz="975" b="1">
                <a:solidFill>
                  <a:srgbClr val="98A2B3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2B4EF9-DABF-4D76-BDEE-7DCDC6A9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344054"/>
                </a:solidFill>
              </a:defRPr>
            </a:pPr>
            <a:r>
              <a:rPr sz="1650" b="0">
                <a:solidFill>
                  <a:srgbClr val="344054"/>
                </a:solidFill>
              </a:rPr>
              <a:t>UI показував вибраний файл, але ranking ще конкурував з усім проєктом.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A4860A-95F0-4813-A41C-5F7AF4C9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28575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9AEFCB-8478-4B2F-9FFB-9566AA43F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431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01828"/>
                </a:solidFill>
              </a:defRPr>
            </a:pPr>
            <a:r>
              <a:rPr sz="1800" b="1">
                <a:solidFill>
                  <a:srgbClr val="101828"/>
                </a:solidFill>
              </a:rPr>
              <a:t>GLOBAL TOP-K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1640F8-1ED8-4E9E-A97E-9ADE513CC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2457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інші файли займають місця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2DA675-B947-4126-9D0E-4B270243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03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98A2B3"/>
                </a:solidFill>
              </a:defRPr>
            </a:pPr>
            <a:r>
              <a:rPr sz="2850" b="1">
                <a:solidFill>
                  <a:srgbClr val="98A2B3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66B189-1B9B-49AA-A1AD-47CF7450D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133600"/>
            <a:ext cx="28575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EF3F2"/>
          </a:solidFill>
          <a:ln xmlns:a="http://schemas.openxmlformats.org/drawingml/2006/main" w="9525">
            <a:solidFill>
              <a:srgbClr val="FDA29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B4F13E-5A78-411D-8040-7E665AF0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431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D92D20"/>
                </a:solidFill>
              </a:defRPr>
            </a:pPr>
            <a:r>
              <a:rPr sz="1800" b="1">
                <a:solidFill>
                  <a:srgbClr val="D92D20"/>
                </a:solidFill>
              </a:rPr>
              <a:t>LATE FILTER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F15138-9ED0-48DB-B465-88BD81DA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2415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D92D20"/>
                </a:solidFill>
              </a:defRPr>
            </a:pPr>
            <a:r>
              <a:rPr sz="1200" b="0">
                <a:solidFill>
                  <a:srgbClr val="D92D20"/>
                </a:solidFill>
              </a:rPr>
              <a:t>чужі chunks відкидаються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A93534-061A-4B4D-98A5-4068591E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003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98A2B3"/>
                </a:solidFill>
              </a:defRPr>
            </a:pPr>
            <a:r>
              <a:rPr sz="2850" b="1">
                <a:solidFill>
                  <a:srgbClr val="98A2B3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9A705B-DBC4-4E57-9FF5-4D392AEA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133600"/>
            <a:ext cx="28575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EF3F2"/>
          </a:solidFill>
          <a:ln xmlns:a="http://schemas.openxmlformats.org/drawingml/2006/main" w="9525">
            <a:solidFill>
              <a:srgbClr val="FDA29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687FDD-3BEE-41F8-A205-C7A4ECB6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3431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D92D20"/>
                </a:solidFill>
              </a:defRPr>
            </a:pPr>
            <a:r>
              <a:rPr sz="1800" b="1">
                <a:solidFill>
                  <a:srgbClr val="D92D20"/>
                </a:solidFill>
              </a:rPr>
              <a:t>EMPTY / WEAK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F93C06-ADBD-47E7-8E53-BEB641514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724150"/>
            <a:ext cx="2438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D92D20"/>
                </a:solidFill>
              </a:defRPr>
            </a:pPr>
            <a:r>
              <a:rPr sz="1200" b="0">
                <a:solidFill>
                  <a:srgbClr val="D92D20"/>
                </a:solidFill>
              </a:rPr>
              <a:t>selected file не дійшов до rank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4CA7DB-8BE1-4CE7-AD97-08760C79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458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solidFill>
              <a:srgbClr val="D0D5DD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C71220-10D6-4B28-9484-1ECE581D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Чому це важливо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E56C6F-6596-42BD-85BF-940461F1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723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344054"/>
                </a:solidFill>
              </a:defRPr>
            </a:pPr>
            <a:r>
              <a:rPr sz="1800" b="0">
                <a:solidFill>
                  <a:srgbClr val="344054"/>
                </a:solidFill>
              </a:rPr>
              <a:t>Пізня фільтрація порушувала grounding contract: вибір corpus був візуальним, а не фактичним.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32BDE5-52DB-45FA-86B1-687D19241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210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D92D20"/>
                </a:solidFill>
              </a:defRPr>
            </a:pPr>
            <a:r>
              <a:rPr sz="1350" b="1">
                <a:solidFill>
                  <a:srgbClr val="D92D20"/>
                </a:solidFill>
              </a:rPr>
              <a:t>не косметика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78413B-D26D-4EB1-8B02-A36CBD09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5339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01828"/>
                </a:solidFill>
              </a:defRPr>
            </a:pPr>
            <a:r>
              <a:rPr sz="2550" b="1">
                <a:solidFill>
                  <a:srgbClr val="101828"/>
                </a:solidFill>
              </a:rPr>
              <a:t>retrieval bug</a:t>
            </a:r>
          </a:p>
        </p:txBody>
      </p:sp>
    </p:spTree>
    <p:extLst>
      <p:ext uri="{BB962C8B-B14F-4D97-AF65-F5344CB8AC3E}">
        <p14:creationId xmlns:p14="http://schemas.microsoft.com/office/powerpoint/2010/main" val="879527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490474-295C-4B58-96E3-FFDC93E4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DBFCA-6C0C-474A-9D31-6621C2B17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F80ED"/>
                </a:solidFill>
              </a:defRPr>
            </a:pPr>
            <a:r>
              <a:rPr sz="975" b="1">
                <a:solidFill>
                  <a:srgbClr val="2F80ED"/>
                </a:solidFill>
              </a:rPr>
              <a:t>ПОКРАЩЕННЯ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E3699D-294C-444B-AFA3-C6BC2760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Before / After: scope тепер працює до top-k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5D698F-D2C6-48DD-A65A-627D91C4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98A2B3"/>
                </a:solidFill>
              </a:defRPr>
            </a:pPr>
            <a:r>
              <a:rPr sz="975" b="1">
                <a:solidFill>
                  <a:srgbClr val="98A2B3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D20E1-5B9D-4F2D-9B4D-F45D16F7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219700" cy="426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F2"/>
          </a:solidFill>
          <a:ln xmlns:a="http://schemas.openxmlformats.org/drawingml/2006/main" w="9525">
            <a:solidFill>
              <a:srgbClr val="FDA29B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D03287-0BA6-4C18-8ED3-0924086B8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04950"/>
            <a:ext cx="5219700" cy="426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3"/>
          </a:solidFill>
          <a:ln xmlns:a="http://schemas.openxmlformats.org/drawingml/2006/main" w="9525">
            <a:solidFill>
              <a:srgbClr val="6CE9A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8C254E-AD8B-48F1-B9AC-53759E89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92D20"/>
                </a:solidFill>
              </a:defRPr>
            </a:pPr>
            <a:r>
              <a:rPr sz="1500" b="1">
                <a:solidFill>
                  <a:srgbClr val="D92D20"/>
                </a:solidFill>
              </a:rPr>
              <a:t>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FD43DB-165C-4809-A530-AF0A0083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1828"/>
                </a:solidFill>
              </a:defRPr>
            </a:pPr>
            <a:r>
              <a:rPr sz="2025" b="1">
                <a:solidFill>
                  <a:srgbClr val="101828"/>
                </a:solidFill>
              </a:rPr>
              <a:t>Global vector top‑1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2EF43A-68A1-45F0-A511-1F00D8E5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D92D20"/>
                </a:solidFill>
              </a:defRPr>
            </a:pPr>
            <a:r>
              <a:rPr sz="1575" b="0">
                <a:solidFill>
                  <a:srgbClr val="D92D20"/>
                </a:solidFill>
              </a:rPr>
              <a:t>other.md / chunk_b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2F4409-789B-4E90-B933-82288DC1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↓ late file filter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F917C0-4585-4EEB-8D95-ECF22FD1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422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D92D20"/>
                </a:solidFill>
              </a:defRPr>
            </a:pPr>
            <a:r>
              <a:rPr sz="1875" b="1">
                <a:solidFill>
                  <a:srgbClr val="D92D20"/>
                </a:solidFill>
              </a:rPr>
              <a:t>selected.md → 0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EE806-3587-4CCF-8E01-E747C2F3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candidate_k =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47EC5B-DB4A-458B-A828-E68B3048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526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39855"/>
                </a:solidFill>
              </a:defRPr>
            </a:pPr>
            <a:r>
              <a:rPr sz="1500" b="1">
                <a:solidFill>
                  <a:srgbClr val="039855"/>
                </a:solidFill>
              </a:rPr>
              <a:t>AFTER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B96E28-CCB8-481E-971B-65B671C9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05050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1828"/>
                </a:solidFill>
              </a:defRPr>
            </a:pPr>
            <a:r>
              <a:rPr sz="2025" b="1">
                <a:solidFill>
                  <a:srgbClr val="101828"/>
                </a:solidFill>
              </a:rPr>
              <a:t>Eligible document IDs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CB4FA2-8ED1-459E-987D-E781D2D5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743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39855"/>
                </a:solidFill>
              </a:defRPr>
            </a:pPr>
            <a:r>
              <a:rPr sz="1575" b="0">
                <a:solidFill>
                  <a:srgbClr val="039855"/>
                </a:solidFill>
              </a:rPr>
              <a:t>selected.md only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2E6F1C-A18F-45F6-89DE-98322E4F7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2575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↓ filter before cutoff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C79FE7-7AF3-4C28-8874-14484F08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90950"/>
            <a:ext cx="422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39855"/>
                </a:solidFill>
              </a:defRPr>
            </a:pPr>
            <a:r>
              <a:rPr sz="1875" b="1">
                <a:solidFill>
                  <a:srgbClr val="039855"/>
                </a:solidFill>
              </a:rPr>
              <a:t>chunk_a + citation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860B1D-2154-48BC-86CC-4B2D04FA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0482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regression test зафіксував поведінку</a:t>
            </a:r>
          </a:p>
        </p:txBody>
      </p:sp>
    </p:spTree>
    <p:extLst>
      <p:ext uri="{BB962C8B-B14F-4D97-AF65-F5344CB8AC3E}">
        <p14:creationId xmlns:p14="http://schemas.microsoft.com/office/powerpoint/2010/main" val="11030893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8BF844-31F7-4A20-A00D-4ECE05B0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3E2144-25B1-4E8C-9079-B6D24862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F80ED"/>
                </a:solidFill>
              </a:defRPr>
            </a:pPr>
            <a:r>
              <a:rPr sz="975" b="1">
                <a:solidFill>
                  <a:srgbClr val="2F80ED"/>
                </a:solidFill>
              </a:rPr>
              <a:t>АРХІТЕКТУРА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3D6408-FA66-4FD3-B29E-006DD93B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Від файлу до відповіді: повний керований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385F6-BDD4-4B28-8113-A788B954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98A2B3"/>
                </a:solidFill>
              </a:defRPr>
            </a:pPr>
            <a:r>
              <a:rPr sz="975" b="1">
                <a:solidFill>
                  <a:srgbClr val="98A2B3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5CA60E-03C8-486B-BDAE-40B9679F2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38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Кожна стрілка — окремий перевірюваний стан. Повна PNG/SVG-схема додається до проєкту.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3268886aac412d">
            <a:extLst>
              <a:ext uri="{96DAC541-7B7A-43D3-8B79-37D633B846F1}">
                <asvg:svgBlip xmlns:asvg="http://schemas.microsoft.com/office/drawing/2016/SVG/main" r:embed="Rf323b014608a436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00050" y="1600200"/>
            <a:ext cx="11391900" cy="29908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FBED5F-5578-4991-A274-4CD3E1A2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374CC9-7057-49EC-BBF4-36DC51EE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958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SYNC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70FFDD-A54D-4769-94AC-B7D968FB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673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зміни файлів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4AFAA4-2E77-48D7-9C06-5643306F0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914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DCDF67-DA60-4F95-8C47-E8189C96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8958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SCOPE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FAE7FE-AD72-43C6-8849-8E433760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2673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corpus + representation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57AC10-430D-4A48-A9B7-08B5D4A6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914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D598AD-0C16-4AC1-AFB7-66861014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958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RETRIEVAL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05554B-B75B-4AB4-B4CC-469947F9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673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FAISS + BM25 + BGE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D589CD-8D1D-4A12-9EEF-0961811AB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914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9B7BCA-4CD3-4F99-8F30-9778237C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8958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ANSWER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E6D69D-3F78-47C0-9E15-30AF614F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2673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gate + Qwen3 + citations</a:t>
            </a:r>
          </a:p>
        </p:txBody>
      </p:sp>
    </p:spTree>
    <p:extLst>
      <p:ext uri="{BB962C8B-B14F-4D97-AF65-F5344CB8AC3E}">
        <p14:creationId xmlns:p14="http://schemas.microsoft.com/office/powerpoint/2010/main" val="17937885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750144-265A-4BE0-96C9-DDF4C198B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489857-4120-4640-9336-B92DFE8AB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F80ED"/>
                </a:solidFill>
              </a:defRPr>
            </a:pPr>
            <a:r>
              <a:rPr sz="975" b="1">
                <a:solidFill>
                  <a:srgbClr val="2F80ED"/>
                </a:solidFill>
              </a:rPr>
              <a:t>ДАНІ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CFC37A-D372-408B-8BF7-0A3446082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Incremental sync: переіндексовуються тільки зміни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96E5A9-626F-45B7-827B-4A14C34F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98A2B3"/>
                </a:solidFill>
              </a:defRPr>
            </a:pPr>
            <a:r>
              <a:rPr sz="975" b="1">
                <a:solidFill>
                  <a:srgbClr val="98A2B3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B61431-BF44-48F2-A480-D33FFC36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76400"/>
            <a:ext cx="43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F80ED"/>
                </a:solidFill>
              </a:defRPr>
            </a:pPr>
            <a:r>
              <a:rPr sz="2850" b="1">
                <a:solidFill>
                  <a:srgbClr val="2F80ED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BD572-2B18-413E-857E-E693EEF1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6954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Локальні файли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516825-6FCF-49EE-BB67-A02E70BDB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13360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44054"/>
                </a:solidFill>
              </a:defRPr>
            </a:pPr>
            <a:r>
              <a:rPr sz="1350" b="0">
                <a:solidFill>
                  <a:srgbClr val="344054"/>
                </a:solidFill>
              </a:rPr>
              <a:t>size + mtime → SHA‑256 лише за потреби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344054"/>
                </a:solidFill>
              </a:defRPr>
            </a:pPr>
            <a:r>
              <a:rPr sz="1350" b="0">
                <a:solidFill>
                  <a:srgbClr val="344054"/>
                </a:solidFill>
              </a:rPr>
              <a:t>.gitignore, secrets і binaries блокуються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4617D-96FF-4412-B842-2B9059FFD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9467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solidFill>
              <a:srgbClr val="D0D5DD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D888DE-0DA4-4FA3-B89E-72D7E94D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43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6938EF"/>
                </a:solidFill>
              </a:defRPr>
            </a:pPr>
            <a:r>
              <a:rPr sz="2850" b="1">
                <a:solidFill>
                  <a:srgbClr val="6938E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F46D98-F5E3-4CEC-93B7-09C22AAC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4290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Нарізка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314A4D-54A4-479D-9766-406AA945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718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Classic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0EFDC-43D8-4767-B242-A1E6100F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147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очищений текст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697B68-2F62-44EA-B652-E2C1CFDB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71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6938EF"/>
                </a:solidFill>
              </a:defRPr>
            </a:pPr>
            <a:r>
              <a:rPr sz="1650" b="1">
                <a:solidFill>
                  <a:srgbClr val="6938EF"/>
                </a:solidFill>
              </a:rPr>
              <a:t>Developer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46B650-24A7-424D-B56A-FF34BD06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7147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код + структура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F1FB94-F970-466F-8B08-63ADB6B99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718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DC6803"/>
                </a:solidFill>
              </a:defRPr>
            </a:pPr>
            <a:r>
              <a:rPr sz="1650" b="1">
                <a:solidFill>
                  <a:srgbClr val="DC6803"/>
                </a:solidFill>
              </a:rPr>
              <a:t>Mixed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C096E-08C0-450B-952D-BA1F92E6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router обирає одне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D89E49-F2A1-4D22-8FF6-3265F307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9467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solidFill>
              <a:srgbClr val="D0D5DD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38092B-9C3D-45A5-ABAE-2879C45D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29150"/>
            <a:ext cx="43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39855"/>
                </a:solidFill>
              </a:defRPr>
            </a:pPr>
            <a:r>
              <a:rPr sz="2850" b="1">
                <a:solidFill>
                  <a:srgbClr val="039855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8D068B-5DB3-4AA6-AF1E-80EE910F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482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Google Sheets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6A6266-EB10-457D-A857-D3AA0D64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0958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44054"/>
                </a:solidFill>
              </a:defRPr>
            </a:pPr>
            <a:r>
              <a:rPr sz="1350" b="0">
                <a:solidFill>
                  <a:srgbClr val="344054"/>
                </a:solidFill>
              </a:rPr>
              <a:t>Files  ·  Chunks_Current  ·  Chunks_History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291B64-48E2-4837-A0BB-D19C9FD5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6101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локально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2F18AC-48CC-4C4E-8C2B-67AE2D56D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93395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FAISS + ID maps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892104-0101-4462-8951-58BADC49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314950"/>
            <a:ext cx="1962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039855"/>
                </a:solidFill>
              </a:defRPr>
            </a:pPr>
            <a:r>
              <a:rPr sz="1200" b="0">
                <a:solidFill>
                  <a:srgbClr val="039855"/>
                </a:solidFill>
              </a:rPr>
              <a:t>без тексту chunks</a:t>
            </a:r>
          </a:p>
        </p:txBody>
      </p:sp>
    </p:spTree>
    <p:extLst>
      <p:ext uri="{BB962C8B-B14F-4D97-AF65-F5344CB8AC3E}">
        <p14:creationId xmlns:p14="http://schemas.microsoft.com/office/powerpoint/2010/main" val="9294147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40863E-137A-4F62-BE8E-972BE9A1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CD02C7-653E-4E38-BE48-D300064E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F80ED"/>
                </a:solidFill>
              </a:defRPr>
            </a:pPr>
            <a:r>
              <a:rPr sz="975" b="1">
                <a:solidFill>
                  <a:srgbClr val="2F80ED"/>
                </a:solidFill>
              </a:rPr>
              <a:t>RETRIEVAL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17E0BF-ECAA-41E2-A067-96B5EE3F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Hybrid retrieval: текст читається лише для кандидатів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CFCC77-5CE7-441A-A7E7-291BD3A1D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98A2B3"/>
                </a:solidFill>
              </a:defRPr>
            </a:pPr>
            <a:r>
              <a:rPr sz="975" b="1">
                <a:solidFill>
                  <a:srgbClr val="98A2B3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C16A68-7709-49A6-92D4-7BB0D181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101828"/>
                </a:solidFill>
              </a:defRPr>
            </a:pPr>
            <a:r>
              <a:rPr sz="4200" b="1">
                <a:solidFill>
                  <a:srgbClr val="101828"/>
                </a:solidFill>
              </a:rPr>
              <a:t>ONLY IDS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C1A73-530F-415F-A98E-8CAE1B912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09850"/>
            <a:ext cx="3810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344054"/>
                </a:solidFill>
              </a:defRPr>
            </a:pPr>
            <a:r>
              <a:rPr sz="1650" b="0">
                <a:solidFill>
                  <a:srgbClr val="344054"/>
                </a:solidFill>
              </a:rPr>
              <a:t>FAISS не тримає повний текст — він повертає chunk IDs.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087F2B-E405-446D-BBF4-A43EDB12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938EF"/>
                </a:solidFill>
              </a:defRPr>
            </a:pPr>
            <a:r>
              <a:rPr sz="1275" b="1">
                <a:solidFill>
                  <a:srgbClr val="6938EF"/>
                </a:solidFill>
              </a:rPr>
              <a:t>document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6346F6-79F7-4CF2-ADC3-9CB6A1D4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938EF"/>
                </a:solidFill>
              </a:defRPr>
            </a:pPr>
            <a:r>
              <a:rPr sz="1275" b="1">
                <a:solidFill>
                  <a:srgbClr val="6938EF"/>
                </a:solidFill>
              </a:rPr>
              <a:t>+ representation 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72E146-5532-45CD-9C93-80E18314A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938EF"/>
                </a:solidFill>
              </a:defRPr>
            </a:pPr>
            <a:r>
              <a:rPr sz="1275" b="1">
                <a:solidFill>
                  <a:srgbClr val="6938EF"/>
                </a:solidFill>
              </a:rPr>
              <a:t>+ Google row map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846D45-8E4E-4983-9422-74C8E224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292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DC6803"/>
                </a:solidFill>
              </a:defRPr>
            </a:pPr>
            <a:r>
              <a:rPr sz="1650" b="1">
                <a:solidFill>
                  <a:srgbClr val="DC6803"/>
                </a:solidFill>
              </a:rPr>
              <a:t>ранній filter до candidate_k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00D6C9-365F-4ED6-BBB3-8020F39E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524000"/>
            <a:ext cx="4743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6ADEDB-B10A-48C1-AA0A-BCABA0C3F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666875"/>
            <a:ext cx="432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01828"/>
                </a:solidFill>
              </a:defRPr>
            </a:pPr>
            <a:r>
              <a:rPr sz="1575" b="1">
                <a:solidFill>
                  <a:srgbClr val="101828"/>
                </a:solidFill>
              </a:rPr>
              <a:t>FAISS semantic IDs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1FD0E4-E1AA-484D-A5F5-5721DD42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955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8A2B3"/>
                </a:solidFill>
              </a:defRPr>
            </a:pPr>
            <a:r>
              <a:rPr sz="1800" b="1">
                <a:solidFill>
                  <a:srgbClr val="98A2B3"/>
                </a:solidFill>
              </a:rPr>
              <a:t>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3ECD8B-CD10-435A-B041-244C3F57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43150"/>
            <a:ext cx="4743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FEC8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944969-4FFC-4E1C-957C-ABC80DD7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86025"/>
            <a:ext cx="432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C6803"/>
                </a:solidFill>
              </a:defRPr>
            </a:pPr>
            <a:r>
              <a:rPr sz="1575" b="1">
                <a:solidFill>
                  <a:srgbClr val="DC6803"/>
                </a:solidFill>
              </a:rPr>
              <a:t>EARLY MAP FILTER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B09107-DCFF-4235-AF65-FCF7F650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146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8A2B3"/>
                </a:solidFill>
              </a:defRPr>
            </a:pPr>
            <a:r>
              <a:rPr sz="1800" b="1">
                <a:solidFill>
                  <a:srgbClr val="98A2B3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78571B-DB0A-41EF-AC8D-F4F2315D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162300"/>
            <a:ext cx="4743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454D79-6951-490F-9AAF-9626FA4E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05175"/>
            <a:ext cx="432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01828"/>
                </a:solidFill>
              </a:defRPr>
            </a:pPr>
            <a:r>
              <a:rPr sz="1575" b="1">
                <a:solidFill>
                  <a:srgbClr val="101828"/>
                </a:solidFill>
              </a:rPr>
              <a:t>Sheets batch fetch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93122A-E838-4B74-A93D-7275391B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338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8A2B3"/>
                </a:solidFill>
              </a:defRPr>
            </a:pPr>
            <a:r>
              <a:rPr sz="1800" b="1">
                <a:solidFill>
                  <a:srgbClr val="98A2B3"/>
                </a:solidFill>
              </a:rPr>
              <a:t>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882760-744E-4A91-92D4-B4EEED1C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81450"/>
            <a:ext cx="4743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091F16-0ED9-4055-BC67-5501C1F1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124325"/>
            <a:ext cx="432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01828"/>
                </a:solidFill>
              </a:defRPr>
            </a:pPr>
            <a:r>
              <a:rPr sz="1575" b="1">
                <a:solidFill>
                  <a:srgbClr val="101828"/>
                </a:solidFill>
              </a:rPr>
              <a:t>candidate BM25 + graph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879D70-C5FA-4365-BB35-6E06E43B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529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8A2B3"/>
                </a:solidFill>
              </a:defRPr>
            </a:pPr>
            <a:r>
              <a:rPr sz="1800" b="1">
                <a:solidFill>
                  <a:srgbClr val="98A2B3"/>
                </a:solidFill>
              </a:rPr>
              <a:t>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3C7C79-3EE3-4FEA-9CF3-69B6BC40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800600"/>
            <a:ext cx="4743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84AD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D0A03E-3368-4870-9057-4C31DC05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943475"/>
            <a:ext cx="432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01828"/>
                </a:solidFill>
              </a:defRPr>
            </a:pPr>
            <a:r>
              <a:rPr sz="1575" b="1">
                <a:solidFill>
                  <a:srgbClr val="101828"/>
                </a:solidFill>
              </a:rPr>
              <a:t>BGE reranking</a:t>
            </a:r>
          </a:p>
        </p:txBody>
      </p:sp>
    </p:spTree>
    <p:extLst>
      <p:ext uri="{BB962C8B-B14F-4D97-AF65-F5344CB8AC3E}">
        <p14:creationId xmlns:p14="http://schemas.microsoft.com/office/powerpoint/2010/main" val="159609702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1A99E4-E5BC-4B59-9D93-B7DB3417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AE3097-43D2-48F9-9E80-B3B0139B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F80ED"/>
                </a:solidFill>
              </a:defRPr>
            </a:pPr>
            <a:r>
              <a:rPr sz="975" b="1">
                <a:solidFill>
                  <a:srgbClr val="2F80ED"/>
                </a:solidFill>
              </a:rPr>
              <a:t>БЕЗПЕКА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52D2E-D093-4193-90CA-650835AF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Grounded answering: без доказів відповідь не генерується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B93CA0-B29C-491F-A58E-76476827C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98A2B3"/>
                </a:solidFill>
              </a:defRPr>
            </a:pPr>
            <a:r>
              <a:rPr sz="975" b="1">
                <a:solidFill>
                  <a:srgbClr val="98A2B3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EF24B8-0297-4819-AB53-6BA6AE2D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638300"/>
            <a:ext cx="434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01828"/>
                </a:solidFill>
              </a:defRPr>
            </a:pPr>
            <a:r>
              <a:rPr sz="2250" b="1">
                <a:solidFill>
                  <a:srgbClr val="101828"/>
                </a:solidFill>
              </a:rPr>
              <a:t>Достатньо evidence?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85C2B7-9F49-4FC8-9E62-8A3711AD5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3431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98A2B3"/>
                </a:solidFill>
              </a:defRPr>
            </a:pPr>
            <a:r>
              <a:rPr sz="2850" b="1">
                <a:solidFill>
                  <a:srgbClr val="98A2B3"/>
                </a:solidFill>
              </a:rPr>
              <a:t>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369264-682B-4356-ADC3-1B92444D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431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98A2B3"/>
                </a:solidFill>
              </a:defRPr>
            </a:pPr>
            <a:r>
              <a:rPr sz="2850" b="1">
                <a:solidFill>
                  <a:srgbClr val="98A2B3"/>
                </a:solidFill>
              </a:rPr>
              <a:t>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4CC323-4EE8-412C-ACB2-D1799704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424815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EF3F2"/>
          </a:solidFill>
          <a:ln xmlns:a="http://schemas.openxmlformats.org/drawingml/2006/main" w="9525">
            <a:solidFill>
              <a:srgbClr val="FDA29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D74BB2-C011-4FE5-BD0E-54D11584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051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D92D20"/>
                </a:solidFill>
              </a:defRPr>
            </a:pPr>
            <a:r>
              <a:rPr sz="1425" b="1">
                <a:solidFill>
                  <a:srgbClr val="D92D20"/>
                </a:solidFill>
              </a:rPr>
              <a:t>НІ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E7D662-A672-43A4-938A-79A11889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6235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8"/>
                </a:solidFill>
              </a:defRPr>
            </a:pPr>
            <a:r>
              <a:rPr sz="2175" b="1">
                <a:solidFill>
                  <a:srgbClr val="101828"/>
                </a:solidFill>
              </a:rPr>
              <a:t>Honest fallback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210579-555A-4600-B4ED-E2B18787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14800"/>
            <a:ext cx="3238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44054"/>
                </a:solidFill>
              </a:defRPr>
            </a:pPr>
            <a:r>
              <a:rPr sz="1425" b="0">
                <a:solidFill>
                  <a:srgbClr val="344054"/>
                </a:solidFill>
              </a:rPr>
              <a:t>• без вигаданої відповіді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44054"/>
                </a:solidFill>
              </a:defRPr>
            </a:pPr>
            <a:r>
              <a:rPr sz="1425" b="0">
                <a:solidFill>
                  <a:srgbClr val="344054"/>
                </a:solidFill>
              </a:rPr>
              <a:t>• без фальшивої citation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44054"/>
                </a:solidFill>
              </a:defRPr>
            </a:pPr>
            <a:r>
              <a:rPr sz="1425" b="0">
                <a:solidFill>
                  <a:srgbClr val="344054"/>
                </a:solidFill>
              </a:rPr>
              <a:t>• без stale local 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544EFF-A1EF-4DFF-B05D-3408D31F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57500"/>
            <a:ext cx="424815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9525">
            <a:solidFill>
              <a:srgbClr val="6CE9A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97E976-7579-4E51-96D4-1044611C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051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39855"/>
                </a:solidFill>
              </a:defRPr>
            </a:pPr>
            <a:r>
              <a:rPr sz="1425" b="1">
                <a:solidFill>
                  <a:srgbClr val="039855"/>
                </a:solidFill>
              </a:rPr>
              <a:t>ТАК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FAC109-A5E5-4019-948D-31335A27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62350"/>
            <a:ext cx="358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1828"/>
                </a:solidFill>
              </a:defRPr>
            </a:pPr>
            <a:r>
              <a:rPr sz="2025" b="1">
                <a:solidFill>
                  <a:srgbClr val="101828"/>
                </a:solidFill>
              </a:rPr>
              <a:t>Qwen3 → JSON → citations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A9FD0A-683D-4ADF-9B29-2B600623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114800"/>
            <a:ext cx="3333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44054"/>
                </a:solidFill>
              </a:defRPr>
            </a:pPr>
            <a:r>
              <a:rPr sz="1425" b="0">
                <a:solidFill>
                  <a:srgbClr val="344054"/>
                </a:solidFill>
              </a:rPr>
              <a:t>• тільки final context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44054"/>
                </a:solidFill>
              </a:defRPr>
            </a:pPr>
            <a:r>
              <a:rPr sz="1425" b="0">
                <a:solidFill>
                  <a:srgbClr val="344054"/>
                </a:solidFill>
              </a:rPr>
              <a:t>• одна repair-спроба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44054"/>
                </a:solidFill>
              </a:defRPr>
            </a:pPr>
            <a:r>
              <a:rPr sz="1425" b="0">
                <a:solidFill>
                  <a:srgbClr val="344054"/>
                </a:solidFill>
              </a:rPr>
              <a:t>• file / page / cell / line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55FDDB-EF20-4D3F-BADA-34F2D5D5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5245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DC6803"/>
                </a:solidFill>
              </a:defRPr>
            </a:pPr>
            <a:r>
              <a:rPr sz="1350" b="1">
                <a:solidFill>
                  <a:srgbClr val="DC6803"/>
                </a:solidFill>
              </a:rPr>
              <a:t>Google Sheets unavailable → safe sync error</a:t>
            </a:r>
          </a:p>
        </p:txBody>
      </p:sp>
    </p:spTree>
    <p:extLst>
      <p:ext uri="{BB962C8B-B14F-4D97-AF65-F5344CB8AC3E}">
        <p14:creationId xmlns:p14="http://schemas.microsoft.com/office/powerpoint/2010/main" val="3776629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23240E-00EA-4061-86AD-AA99AAD3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7BE9DE-ECEC-4CBC-BFE7-2A7B8ADD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F80ED"/>
                </a:solidFill>
              </a:defRPr>
            </a:pPr>
            <a:r>
              <a:rPr sz="975" b="1">
                <a:solidFill>
                  <a:srgbClr val="2F80ED"/>
                </a:solidFill>
              </a:rPr>
              <a:t>ПРОДУКТ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6E1C9-3219-407F-AB65-C7B025ED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Desktop demo: сфокусований чат без зайвих панелей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DE27C9-4991-4352-ADBA-35689416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98A2B3"/>
                </a:solidFill>
              </a:defRPr>
            </a:pPr>
            <a:r>
              <a:rPr sz="975" b="1">
                <a:solidFill>
                  <a:srgbClr val="98A2B3"/>
                </a:solidFill>
              </a:rPr>
              <a:t>08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e30a642d1c48a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2632" y="1352550"/>
            <a:ext cx="7545435" cy="4876800"/>
          </a:xfrm>
          <a:prstGeom xmlns:a="http://schemas.openxmlformats.org/drawingml/2006/main" prst="roundRect">
            <a:avLst>
              <a:gd name="adj" fmla="val 234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8BA73B-E05C-4E4D-A8C3-660DBA26C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6954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9B2048-DC5B-43BD-B17F-9930FDFB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676400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Проєкти-папки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і вкладені чати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24CAA7-AD38-4542-8902-5ACD8970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52700"/>
            <a:ext cx="2228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solidFill>
              <a:srgbClr val="D0D5DD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F69663-3DAB-4BC1-8158-DCE87B4F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19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A0C2A6-E191-4C71-9B9C-BE81C522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800350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Швидке перемикання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між чатами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3A9FDD-21AE-4B41-ABFD-B44E8E71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676650"/>
            <a:ext cx="2228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solidFill>
              <a:srgbClr val="D0D5D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0B677D-92E2-4A7E-87F7-AE21D349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943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9B62F1-8A6B-4212-BB1F-9D981D00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924300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Corpus selector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і точні citations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67E08C-6CBA-46F1-8121-3C1AE470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00600"/>
            <a:ext cx="2228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solidFill>
              <a:srgbClr val="D0D5DD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09E2B1-FDD0-4EC2-8348-ED6C709A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067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39855"/>
                </a:solidFill>
              </a:defRPr>
            </a:pPr>
            <a:r>
              <a:rPr sz="1725" b="1">
                <a:solidFill>
                  <a:srgbClr val="039855"/>
                </a:solidFill>
              </a:rPr>
              <a:t>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378A0-4D0A-4C6E-9C7C-4DB38C1F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048250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rename · archive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restore · dedup</a:t>
            </a:r>
          </a:p>
        </p:txBody>
      </p:sp>
    </p:spTree>
    <p:extLst>
      <p:ext uri="{BB962C8B-B14F-4D97-AF65-F5344CB8AC3E}">
        <p14:creationId xmlns:p14="http://schemas.microsoft.com/office/powerpoint/2010/main" val="299111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DDEECE-E7B9-4216-9218-36E27E35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2759DF-CB79-4DD5-B086-94AD4307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F80ED"/>
                </a:solidFill>
              </a:defRPr>
            </a:pPr>
            <a:r>
              <a:rPr sz="975" b="1">
                <a:solidFill>
                  <a:srgbClr val="2F80ED"/>
                </a:solidFill>
              </a:rPr>
              <a:t>РЕЗУЛЬТАТ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BBE669-73C9-423D-B30A-4F10E8EA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Перевірено кодом, live sync і Windows-збіркою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11C4E6-CCD5-4F00-932F-7B0879BD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98A2B3"/>
                </a:solidFill>
              </a:defRPr>
            </a:pPr>
            <a:r>
              <a:rPr sz="975" b="1">
                <a:solidFill>
                  <a:srgbClr val="98A2B3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D40EE9-3213-4499-A8D1-9FD5D686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5100" b="1">
                <a:solidFill>
                  <a:srgbClr val="2F80ED"/>
                </a:solidFill>
              </a:defRPr>
            </a:pPr>
            <a:r>
              <a:rPr sz="5100" b="1">
                <a:solidFill>
                  <a:srgbClr val="2F80ED"/>
                </a:solidFill>
              </a:rPr>
              <a:t>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17AB83-8CBA-4BF5-91C9-26CB427E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passed tests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6E190B-B2B0-4491-B448-77385C0E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3830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5100" b="1">
                <a:solidFill>
                  <a:srgbClr val="039855"/>
                </a:solidFill>
              </a:defRPr>
            </a:pPr>
            <a:r>
              <a:rPr sz="5100" b="1">
                <a:solidFill>
                  <a:srgbClr val="039855"/>
                </a:solidFill>
              </a:rPr>
              <a:t>975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932E95-5AAA-470C-A48C-77263A8A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6479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current chunks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6D78CA-4224-4A27-AA4E-DDCFF6ED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3830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5100" b="1">
                <a:solidFill>
                  <a:srgbClr val="6938EF"/>
                </a:solidFill>
              </a:defRPr>
            </a:pPr>
            <a:r>
              <a:rPr sz="5100" b="1">
                <a:solidFill>
                  <a:srgbClr val="6938EF"/>
                </a:solidFill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BAB3D2-940C-4BCE-9167-ADB60FAB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local text chunks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FD7957-18E5-43A6-8182-3FDBF72B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458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solidFill>
              <a:srgbClr val="D0D5D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EE8165-64CB-4232-9F25-73BD34947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67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01828"/>
                </a:solidFill>
              </a:defRPr>
            </a:pPr>
            <a:r>
              <a:rPr sz="2250" b="1">
                <a:solidFill>
                  <a:srgbClr val="101828"/>
                </a:solidFill>
              </a:rPr>
              <a:t>975 / 975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2E1BEB-4852-4195-ABB2-C3924E2C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2435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44054"/>
                </a:solidFill>
              </a:defRPr>
            </a:pPr>
            <a:r>
              <a:rPr sz="1425" b="0">
                <a:solidFill>
                  <a:srgbClr val="344054"/>
                </a:solidFill>
              </a:rPr>
              <a:t>vector IDs мають document + Google row mapping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509192-398A-4A43-9D05-A88D44C3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8862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Python 3.12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3286A1-7DFE-4AC3-9015-722EBA52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3243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44054"/>
                </a:solidFill>
              </a:defRPr>
            </a:pPr>
            <a:r>
              <a:rPr sz="1350" b="0">
                <a:solidFill>
                  <a:srgbClr val="344054"/>
                </a:solidFill>
              </a:rPr>
              <a:t>стабільний FAISS / Torch runtime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B7E00B-2948-4B90-B6F1-178823B9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8862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EXE · MSI · NSIS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F9137B-D8A9-40F2-838A-4ACA63F62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3243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44054"/>
                </a:solidFill>
              </a:defRPr>
            </a:pPr>
            <a:r>
              <a:rPr sz="1350" b="0">
                <a:solidFill>
                  <a:srgbClr val="344054"/>
                </a:solidFill>
              </a:rPr>
              <a:t>production Tauri build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7F6DF3-D1E9-4AD1-88C6-9B81B5E9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Проєкт: «Сашен сайт» · live snapshot 02.09.2026</a:t>
            </a:r>
          </a:p>
        </p:txBody>
      </p:sp>
    </p:spTree>
    <p:extLst>
      <p:ext uri="{BB962C8B-B14F-4D97-AF65-F5344CB8AC3E}">
        <p14:creationId xmlns:p14="http://schemas.microsoft.com/office/powerpoint/2010/main" val="14608771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A2F0ED-B02A-412F-8CC9-5EB2514F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05324E-021E-42FE-9128-66CB6BFD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F80ED"/>
                </a:solidFill>
              </a:defRPr>
            </a:pPr>
            <a:r>
              <a:rPr sz="975" b="1">
                <a:solidFill>
                  <a:srgbClr val="2F80ED"/>
                </a:solidFill>
              </a:rPr>
              <a:t>ВИСНОВОК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E69C82-1B34-4C8B-A623-31BE0CB4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Головний результат: corpus selector став реальною гарантією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437EA7-1058-4DD4-8F1F-030650E3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98A2B3"/>
                </a:solidFill>
              </a:defRPr>
            </a:pPr>
            <a:r>
              <a:rPr sz="975" b="1">
                <a:solidFill>
                  <a:srgbClr val="98A2B3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77A3D1-DAB7-4F76-AEB6-56E135BC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F80ED"/>
                </a:solidFill>
              </a:defRPr>
            </a:pPr>
            <a:r>
              <a:rPr sz="1425" b="1">
                <a:solidFill>
                  <a:srgbClr val="2F80ED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EDD5CD-133D-46E9-B718-005C71F4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573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1828"/>
                </a:solidFill>
              </a:defRPr>
            </a:pPr>
            <a:r>
              <a:rPr sz="2025" b="1">
                <a:solidFill>
                  <a:srgbClr val="101828"/>
                </a:solidFill>
              </a:rPr>
              <a:t>Контрольований 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4267E5-5D33-49CA-9991-FEAABEF87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764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44054"/>
                </a:solidFill>
              </a:defRPr>
            </a:pPr>
            <a:r>
              <a:rPr sz="1350" b="0">
                <a:solidFill>
                  <a:srgbClr val="344054"/>
                </a:solidFill>
              </a:rPr>
              <a:t>фільтр до ranking і candidate cutoff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4C9F80-68ED-43AE-AF7A-6B715B16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F80ED"/>
                </a:solidFill>
              </a:defRPr>
            </a:pPr>
            <a:r>
              <a:rPr sz="1425" b="1">
                <a:solidFill>
                  <a:srgbClr val="2F80ED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12ED67-2D6E-4019-B02D-5A1EC0DF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384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1828"/>
                </a:solidFill>
              </a:defRPr>
            </a:pPr>
            <a:r>
              <a:rPr sz="2025" b="1">
                <a:solidFill>
                  <a:srgbClr val="101828"/>
                </a:solidFill>
              </a:rPr>
              <a:t>Актуальні дані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532B9B-9DA0-4C90-86F2-A08C15A3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575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44054"/>
                </a:solidFill>
              </a:defRPr>
            </a:pPr>
            <a:r>
              <a:rPr sz="1350" b="0">
                <a:solidFill>
                  <a:srgbClr val="344054"/>
                </a:solidFill>
              </a:rPr>
              <a:t>incremental sync + current/history versioning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1662D8-2A90-4D9A-9AA7-33F4ADCDA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F80ED"/>
                </a:solidFill>
              </a:defRPr>
            </a:pPr>
            <a:r>
              <a:rPr sz="1425" b="1">
                <a:solidFill>
                  <a:srgbClr val="2F80ED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D82A4E-47E1-46B1-88F7-E17BDAF36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19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1828"/>
                </a:solidFill>
              </a:defRPr>
            </a:pPr>
            <a:r>
              <a:rPr sz="2025" b="1">
                <a:solidFill>
                  <a:srgbClr val="101828"/>
                </a:solidFill>
              </a:rPr>
              <a:t>Чесна відповідь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18DF2A-B450-46FC-B876-54AC9034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386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44054"/>
                </a:solidFill>
              </a:defRPr>
            </a:pPr>
            <a:r>
              <a:rPr sz="1350" b="0">
                <a:solidFill>
                  <a:srgbClr val="344054"/>
                </a:solidFill>
              </a:rPr>
              <a:t>evidence gate + citation validation + fallback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3753F9-3C22-4960-863D-25D7B1C0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62100"/>
            <a:ext cx="1905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solidFill>
              <a:srgbClr val="D0D5DD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9357D1-80DA-4F63-BEEE-158CBEF3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676400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Remaining limitations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6C46E7-8CAF-478D-95EB-AD0889B3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266950"/>
            <a:ext cx="4286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344054"/>
                </a:solidFill>
              </a:defRPr>
            </a:pPr>
            <a:r>
              <a:rPr sz="1500" b="0">
                <a:solidFill>
                  <a:srgbClr val="344054"/>
                </a:solidFill>
              </a:rPr>
              <a:t>• Sheets API latency та quotas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344054"/>
                </a:solidFill>
              </a:defRPr>
            </a:pPr>
            <a:r>
              <a:rPr sz="1500" b="0">
                <a:solidFill>
                  <a:srgbClr val="344054"/>
                </a:solidFill>
              </a:rPr>
              <a:t>• threshold потребує ширшого eval set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344054"/>
                </a:solidFill>
              </a:defRPr>
            </a:pPr>
            <a:r>
              <a:rPr sz="1500" b="0">
                <a:solidFill>
                  <a:srgbClr val="344054"/>
                </a:solidFill>
              </a:rPr>
              <a:t>• OCR / media pipeline ще не готовий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344054"/>
                </a:solidFill>
              </a:defRPr>
            </a:pPr>
            <a:r>
              <a:rPr sz="1500" b="0">
                <a:solidFill>
                  <a:srgbClr val="344054"/>
                </a:solidFill>
              </a:rPr>
              <a:t>• code editing свідомо вимкнений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18F92E-C076-4DA7-8316-411549CB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530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938EF"/>
                </a:solidFill>
              </a:defRPr>
            </a:pPr>
            <a:r>
              <a:rPr sz="1275" b="1">
                <a:solidFill>
                  <a:srgbClr val="6938EF"/>
                </a:solidFill>
              </a:rPr>
              <a:t>Наступний крок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C5ADD5-3C9F-461C-846C-21CFD7E1A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2768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production DB + background sync + OCR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11B217-1F62-4042-AC20-13D16B02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F80ED"/>
                </a:solidFill>
              </a:defRPr>
            </a:pPr>
            <a:r>
              <a:rPr sz="1800" b="1">
                <a:solidFill>
                  <a:srgbClr val="2F80ED"/>
                </a:solidFill>
              </a:rPr>
              <a:t>Дякую. Готовий показати live demo.</a:t>
            </a:r>
          </a:p>
        </p:txBody>
      </p:sp>
    </p:spTree>
    <p:extLst>
      <p:ext uri="{BB962C8B-B14F-4D97-AF65-F5344CB8AC3E}">
        <p14:creationId xmlns:p14="http://schemas.microsoft.com/office/powerpoint/2010/main" val="16742447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2026-09-02T17:52:27.3970000Z</dcterms:created>
  <dcterms:modified xsi:type="dcterms:W3CDTF">2026-09-02T17:52:27.3970000Z</dcterms:modified>
</coreProperties>
</file>