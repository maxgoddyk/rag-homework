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bd5aac1af433f" /><Relationship Type="http://schemas.openxmlformats.org/officeDocument/2006/relationships/extended-properties" Target="/docProps/app.xml" Id="Rb20a6f29e97349a0" /><Relationship Type="http://schemas.openxmlformats.org/officeDocument/2006/relationships/officeDocument" Target="/ppt/presentation.xml" Id="R7e4701f0ad2d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a260fae644b23"/>
  </p:sldMasterIdLst>
  <p:notesMasterIdLst>
    <p:notesMasterId xmlns:r="http://schemas.openxmlformats.org/officeDocument/2006/relationships" r:id="R3618c9028fce46dc"/>
  </p:notesMasterIdLst>
  <p:sldIdLst>
    <p:sldId xmlns:r="http://schemas.openxmlformats.org/officeDocument/2006/relationships" id="256" r:id="Rd3ff6682a8494343"/>
    <p:sldId xmlns:r="http://schemas.openxmlformats.org/officeDocument/2006/relationships" id="257" r:id="R6a86437bf8fe4fcd"/>
    <p:sldId xmlns:r="http://schemas.openxmlformats.org/officeDocument/2006/relationships" id="258" r:id="R87414cd3fc544d9a"/>
    <p:sldId xmlns:r="http://schemas.openxmlformats.org/officeDocument/2006/relationships" id="259" r:id="R8514393237a24155"/>
    <p:sldId xmlns:r="http://schemas.openxmlformats.org/officeDocument/2006/relationships" id="260" r:id="R1b9f63197f0c41d2"/>
    <p:sldId xmlns:r="http://schemas.openxmlformats.org/officeDocument/2006/relationships" id="261" r:id="Rc130f984b35d4442"/>
    <p:sldId xmlns:r="http://schemas.openxmlformats.org/officeDocument/2006/relationships" id="262" r:id="R2dea994c72c24c4e"/>
    <p:sldId xmlns:r="http://schemas.openxmlformats.org/officeDocument/2006/relationships" id="263" r:id="R8ea04bbe65364952"/>
    <p:sldId xmlns:r="http://schemas.openxmlformats.org/officeDocument/2006/relationships" id="264" r:id="R8f97a6d2151f4aa2"/>
    <p:sldId xmlns:r="http://schemas.openxmlformats.org/officeDocument/2006/relationships" id="265" r:id="R3bb41b8520514a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fbfd3987d47d3" /><Relationship Type="http://schemas.openxmlformats.org/officeDocument/2006/relationships/slideMaster" Target="/ppt/slideMasters/slideMaster1.xml" Id="R6f9a260fae644b23" /><Relationship Type="http://schemas.openxmlformats.org/officeDocument/2006/relationships/notesMaster" Target="/ppt/notesMasters/notesMaster1.xml" Id="R3618c9028fce46dc" /><Relationship Type="http://schemas.openxmlformats.org/officeDocument/2006/relationships/presProps" Target="/ppt/presProps.xml" Id="R86f30345b7fc4664" /><Relationship Type="http://schemas.openxmlformats.org/officeDocument/2006/relationships/tableStyles" Target="/ppt/tableStyles.xml" Id="Rf4c0fb222abc406f" /><Relationship Type="http://schemas.openxmlformats.org/officeDocument/2006/relationships/slide" Target="/ppt/slides/slide1.xml" Id="Rd3ff6682a8494343" /><Relationship Type="http://schemas.openxmlformats.org/officeDocument/2006/relationships/slide" Target="/ppt/slides/slide2.xml" Id="R6a86437bf8fe4fcd" /><Relationship Type="http://schemas.openxmlformats.org/officeDocument/2006/relationships/slide" Target="/ppt/slides/slide3.xml" Id="R87414cd3fc544d9a" /><Relationship Type="http://schemas.openxmlformats.org/officeDocument/2006/relationships/slide" Target="/ppt/slides/slide4.xml" Id="R8514393237a24155" /><Relationship Type="http://schemas.openxmlformats.org/officeDocument/2006/relationships/slide" Target="/ppt/slides/slide5.xml" Id="R1b9f63197f0c41d2" /><Relationship Type="http://schemas.openxmlformats.org/officeDocument/2006/relationships/slide" Target="/ppt/slides/slide6.xml" Id="Rc130f984b35d4442" /><Relationship Type="http://schemas.openxmlformats.org/officeDocument/2006/relationships/slide" Target="/ppt/slides/slide7.xml" Id="R2dea994c72c24c4e" /><Relationship Type="http://schemas.openxmlformats.org/officeDocument/2006/relationships/slide" Target="/ppt/slides/slide8.xml" Id="R8ea04bbe65364952" /><Relationship Type="http://schemas.openxmlformats.org/officeDocument/2006/relationships/slide" Target="/ppt/slides/slide9.xml" Id="R8f97a6d2151f4aa2" /><Relationship Type="http://schemas.openxmlformats.org/officeDocument/2006/relationships/slide" Target="/ppt/slides/slide10.xml" Id="R3bb41b852051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522da226f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dd2f722e14e51" /><Relationship Type="http://schemas.openxmlformats.org/officeDocument/2006/relationships/notesMaster" Target="/ppt/notesMasters/notesMaster1.xml" Id="Rd85ebb54aee4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584b89be204574" /><Relationship Type="http://schemas.openxmlformats.org/officeDocument/2006/relationships/notesMaster" Target="/ppt/notesMasters/notesMaster1.xml" Id="R57193b4c5d4341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7b627b90f4f0c" /><Relationship Type="http://schemas.openxmlformats.org/officeDocument/2006/relationships/notesMaster" Target="/ppt/notesMasters/notesMaster1.xml" Id="Rebf78bd7d8634c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10d582c364c53" /><Relationship Type="http://schemas.openxmlformats.org/officeDocument/2006/relationships/notesMaster" Target="/ppt/notesMasters/notesMaster1.xml" Id="R098c7b97814d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035c5774964cf3" /><Relationship Type="http://schemas.openxmlformats.org/officeDocument/2006/relationships/notesMaster" Target="/ppt/notesMasters/notesMaster1.xml" Id="Re32592c72ade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e4702bc8b0456d" /><Relationship Type="http://schemas.openxmlformats.org/officeDocument/2006/relationships/notesMaster" Target="/ppt/notesMasters/notesMaster1.xml" Id="Rd3880ae3b3dd40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ede17677374e5c" /><Relationship Type="http://schemas.openxmlformats.org/officeDocument/2006/relationships/notesMaster" Target="/ppt/notesMasters/notesMaster1.xml" Id="R35aa9c9ee9c3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64f2a52f964155" /><Relationship Type="http://schemas.openxmlformats.org/officeDocument/2006/relationships/notesMaster" Target="/ppt/notesMasters/notesMaster1.xml" Id="R781c4a1ad04e46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7cc2a77ede4879" /><Relationship Type="http://schemas.openxmlformats.org/officeDocument/2006/relationships/notesMaster" Target="/ppt/notesMasters/notesMaster1.xml" Id="R85e90c6031b743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7f59354262447a" /><Relationship Type="http://schemas.openxmlformats.org/officeDocument/2006/relationships/notesMaster" Target="/ppt/notesMasters/notesMaster1.xml" Id="R2840cb94777d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Добрий день. Я презентую JARVIS — локальний desktop RAG над файлами та репозиторіями користувача. Моєю метою було зробити контрольований шлях від зміни файлу до grounded-відповіді з перевіреним джерелом.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проэкты/rag-homework/JARVIS/README.md</a:t>
            </a:r>
          </a:p>
          <a:p xmlns:a="http://schemas.openxmlformats.org/drawingml/2006/main">
            <a:r>
              <a:t>- C:/Все мои проэкты/rag-homework/JARVIS/docs/ARCHITECTURE.md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 файлу вже був у UI, але candidate set міг формуватися глобально. За малого top-k chunk іншого документа витісняв evidence обраного файлу. Це retrieval bug, а не косметична проблема.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проэкты/rag-homework/JARVIS/FINAL_IMPROVEMENT.md</a:t>
            </a:r>
          </a:p>
          <a:p xmlns:a="http://schemas.openxmlformats.org/drawingml/2006/main">
            <a:r>
              <a:t>- C:/Все мои проэкты/rag-homework/JARVIS/tests/test_desktop_rag.py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зміни global top-1 міг належати other.md і після пізнього filter не залишалося нічого. Тепер JARVIS спочатку будує eligible document IDs, тому selected.md конкурує лише у власному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проэкты/rag-homework/JARVIS/FINAL_IMPROVEMENT.md</a:t>
            </a:r>
          </a:p>
          <a:p xmlns:a="http://schemas.openxmlformats.org/drawingml/2006/main">
            <a:r>
              <a:t>- C:/Все мои проэкты/rag-homework/JARVIS/jarvis/retrieval.py</a:t>
            </a:r>
          </a:p>
          <a:p xmlns:a="http://schemas.openxmlformats.org/drawingml/2006/main">
            <a:r>
              <a:t>- C:/Все мои проэкты/rag-homework/JARVIS/tests/test_desktop_rag.py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схемі показаний увесь workflow: incremental sync, вибір corpus і representation, hybrid retrieval та grounded answering. Повна вертикальна схема значно більша за слайд і збережена окремо у PNG/SVG для масштабування.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проэкты/rag-homework/JARVIS/docs/WORKFLOW_GRAPH.md</a:t>
            </a:r>
          </a:p>
          <a:p xmlns:a="http://schemas.openxmlformats.org/drawingml/2006/main">
            <a:r>
              <a:t>- C:/Все мои проэкты/rag-homework/JARVIS/outputs/presentation/JARVIS_WORKFLOW_SLIDE.png</a:t>
            </a:r>
          </a:p>
          <a:p xmlns:a="http://schemas.openxmlformats.org/drawingml/2006/main">
            <a:r>
              <a:t>- C:/Все мои проэкты/rag-homework/JARVIS/outputs/presentation/JARVIS_WORKFLOW.png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питанням JARVIS порівнює size і mtime, а SHA-256 рахує лише для потенційних змін. Старі версії переходять у history. Текст зберігається у Sheets, локально — лише відновлюваний vector cache без текстів.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проэкты/rag-homework/JARVIS/docs/ARCHITECTURE.md</a:t>
            </a:r>
          </a:p>
          <a:p xmlns:a="http://schemas.openxmlformats.org/drawingml/2006/main">
            <a:r>
              <a:t>- C:/Все мои проэкты/rag-homework/JARVIS/jarvis/ingestion/service.py</a:t>
            </a:r>
          </a:p>
          <a:p xmlns:a="http://schemas.openxmlformats.org/drawingml/2006/main">
            <a:r>
              <a:t>- C:/Все мои проэкты/rag-homework/JARVIS/jarvis/ingestion/vector_index.py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cloud route FAISS повертає IDs. Text-free maps одразу перевіряють document і representation. Тільки дозволені rows читаються batch-запитом, після чого BM25, graph expansion і BGE уточнюють порядок.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проэкты/rag-homework/JARVIS/docs/ARCHITECTURE.md</a:t>
            </a:r>
          </a:p>
          <a:p xmlns:a="http://schemas.openxmlformats.org/drawingml/2006/main">
            <a:r>
              <a:t>- C:/Все мои проэкты/rag-homework/JARVIS/jarvis/retrieval.py</a:t>
            </a:r>
          </a:p>
          <a:p xmlns:a="http://schemas.openxmlformats.org/drawingml/2006/main">
            <a:r>
              <a:t>- C:/Все мои проэкты/rag-homework/JARVIS/jarvis/ingestion/vector_index.py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gate не передає у модель слабкий контекст. Qwen3 повертає structured JSON, citations перевіряються. Якщо evidence немає або cloud storage недоступний, JARVIS повертає чесний fallback чи sync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проэкты/rag-homework/JARVIS/FINAL_IMPROVEMENT.md</a:t>
            </a:r>
          </a:p>
          <a:p xmlns:a="http://schemas.openxmlformats.org/drawingml/2006/main">
            <a:r>
              <a:t>- C:/Все мои проэкты/rag-homework/JARVIS/jarvis/rag.py</a:t>
            </a:r>
          </a:p>
          <a:p xmlns:a="http://schemas.openxmlformats.org/drawingml/2006/main">
            <a:r>
              <a:t>- C:/Все мои проэкты/rag-homework/JARVIS/jarvis/retrieval.py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desktop проєкти — це розкривні папки, а chats вкладені під ними. Однаковий абсолютний шлях не дублюється. Conversations можна перейменувати, архівувати та відновити; справа видно corpus і preview, знизу dependency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проэкты/rag-homework/JARVIS/outputs/presentation/jarvis-working.png</a:t>
            </a:r>
          </a:p>
          <a:p xmlns:a="http://schemas.openxmlformats.org/drawingml/2006/main">
            <a:r>
              <a:t>- C:/Все мои проэкты/rag-homework/JARVIS/docs/IMPLEMENTATION_STATUS.md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не обмежується скриншотом: 41 test passed. Live sync проєкту Сашен сайт дав 975 current chunks, 975 document mappings і нуль локальних текстових chunks. EXE, MSI та NSIS зібрані на Python 3.12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проэкты/rag-homework/JARVIS/docs/IMPLEMENTATION_STATUS.md</a:t>
            </a:r>
          </a:p>
          <a:p xmlns:a="http://schemas.openxmlformats.org/drawingml/2006/main">
            <a:r>
              <a:t>- C:/Все мои проэкты/rag-homework/JARVIS/tests/test_desktop_rag.py</a:t>
            </a:r>
          </a:p>
          <a:p xmlns:a="http://schemas.openxmlformats.org/drawingml/2006/main">
            <a:r>
              <a:t>- C:/Все мои проэкты/rag-homework/JARVIS/tests/test_jarvis_sheets.py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Головний результат — selector corpus тепер реально керує retrieval. Я чесно фіксую обмеження: Sheets повільніший за production DB, threshold треба калібрувати, OCR/media ще не готові, а code editing навмисно вимкнений.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C:/Все мои проэкты/rag-homework/JARVIS/FINAL_IMPROVEMENT.md</a:t>
            </a:r>
          </a:p>
          <a:p xmlns:a="http://schemas.openxmlformats.org/drawingml/2006/main">
            <a:r>
              <a:t>- C:/Все мои проэкты/rag-homework/JARVIS/docs/IMPLEMENTATION_STATUS.md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57a12dd42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145c9c30a44cb" /><Relationship Type="http://schemas.openxmlformats.org/officeDocument/2006/relationships/slideLayout" Target="/ppt/slideLayouts/slideLayout1.xml" Id="R22a5139d693d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a5139d693d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48db03fc844f4" /><Relationship Type="http://schemas.openxmlformats.org/officeDocument/2006/relationships/notesSlide" Target="/ppt/notesSlides/notesSlide1.xml" Id="R70fc84ed543d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e8bde07949c3" /><Relationship Type="http://schemas.openxmlformats.org/officeDocument/2006/relationships/notesSlide" Target="/ppt/notesSlides/notesSlide2.xml" Id="Rcfc574f900084c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990d358ab427d" /><Relationship Type="http://schemas.openxmlformats.org/officeDocument/2006/relationships/notesSlide" Target="/ppt/notesSlides/notesSlide3.xml" Id="R2f23fd4223f24b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8d32c39a04ac9" /><Relationship Type="http://schemas.openxmlformats.org/officeDocument/2006/relationships/image" Target="/ppt/media/image.png" Id="Rafb95ac01b0547e7" /><Relationship Type="http://schemas.openxmlformats.org/officeDocument/2006/relationships/image" Target="/ppt/media/image.svg" Id="Re40eae44de5044c8" /><Relationship Type="http://schemas.openxmlformats.org/officeDocument/2006/relationships/notesSlide" Target="/ppt/notesSlides/notesSlide4.xml" Id="Rfdd062e42af447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088e8dff24481" /><Relationship Type="http://schemas.openxmlformats.org/officeDocument/2006/relationships/notesSlide" Target="/ppt/notesSlides/notesSlide5.xml" Id="R8dd960dce62b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1c3bab3e49c1" /><Relationship Type="http://schemas.openxmlformats.org/officeDocument/2006/relationships/notesSlide" Target="/ppt/notesSlides/notesSlide6.xml" Id="Rccf469f4a3c1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934471c884847" /><Relationship Type="http://schemas.openxmlformats.org/officeDocument/2006/relationships/notesSlide" Target="/ppt/notesSlides/notesSlide7.xml" Id="Rf0ec37776b9c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3d5e8c3c44522" /><Relationship Type="http://schemas.openxmlformats.org/officeDocument/2006/relationships/image" Target="/ppt/media/image.jpeg" Id="R3e2821c63b27439a" /><Relationship Type="http://schemas.openxmlformats.org/officeDocument/2006/relationships/notesSlide" Target="/ppt/notesSlides/notesSlide8.xml" Id="R06178805d2e4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4afc10f7a4213" /><Relationship Type="http://schemas.openxmlformats.org/officeDocument/2006/relationships/notesSlide" Target="/ppt/notesSlides/notesSlide9.xml" Id="R186a146ca4e743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7c46a3f924acd" /><Relationship Type="http://schemas.openxmlformats.org/officeDocument/2006/relationships/notesSlide" Target="/ppt/notesSlides/notesSlide10.xml" Id="Raece7a93319f4f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3AFC5-35A1-4E7B-8AAF-7561DAB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7CDFD-2411-4675-A73D-4D3161B3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04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JARVIS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F8F3-3561-4AAF-8712-459911D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0D5DD"/>
                </a:solidFill>
              </a:defRPr>
            </a:pPr>
            <a:r>
              <a:rPr sz="2325" b="0">
                <a:solidFill>
                  <a:srgbClr val="D0D5DD"/>
                </a:solidFill>
              </a:rPr>
              <a:t>Локальний desktop RAG</a:t>
            </a:r>
          </a:p>
          <a:p xmlns:a="http://schemas.openxmlformats.org/drawingml/2006/main">
            <a:pPr algn="l">
              <a:defRPr sz="2325" b="0">
                <a:solidFill>
                  <a:srgbClr val="D0D5DD"/>
                </a:solidFill>
              </a:defRPr>
            </a:pPr>
            <a:r>
              <a:rPr sz="2325" b="0">
                <a:solidFill>
                  <a:srgbClr val="D0D5DD"/>
                </a:solidFill>
              </a:rPr>
              <a:t>над файлами та репозиторіями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AA99A-BEE2-401B-846F-9B8A891F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4ADFF"/>
                </a:solidFill>
              </a:defRPr>
            </a:pPr>
            <a:r>
              <a:rPr sz="1275" b="1">
                <a:solidFill>
                  <a:srgbClr val="84ADFF"/>
                </a:solidFill>
              </a:rPr>
              <a:t>Фінальне технічне доопрацювання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3B7D6-B2A5-4257-9148-8AF1231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A5B41-1791-41C1-AF26-1D986EF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2B3"/>
                </a:solidFill>
              </a:defRPr>
            </a:pPr>
            <a:r>
              <a:rPr sz="1275" b="0">
                <a:solidFill>
                  <a:srgbClr val="98A2B3"/>
                </a:solidFill>
              </a:rPr>
              <a:t>incremental sync  ·  early scope  ·  hybrid retrieval  ·  citations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77950-D3DF-4A56-B51F-79297B10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24000"/>
            <a:ext cx="15621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82230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0E09-9678-4F83-9EAC-C8B945B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914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84ADFF"/>
                </a:solidFill>
              </a:defRPr>
            </a:pPr>
            <a:r>
              <a:rPr sz="6450" b="1">
                <a:solidFill>
                  <a:srgbClr val="84ADFF"/>
                </a:solidFill>
              </a:rPr>
              <a:t>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2E0E0-BF12-42A0-94AF-D386310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DESKTOP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BA947-4BF7-4C5E-A11C-7D169F92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</a:defRPr>
            </a:pPr>
            <a:r>
              <a:rPr sz="1350" b="0">
                <a:solidFill>
                  <a:srgbClr val="D0D5DD"/>
                </a:solidFill>
              </a:rPr>
              <a:t>Локально. Контрольовано. З доказами.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84D4-3F83-4059-89F8-19FD142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165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0B5C0-B648-485A-80C6-5404755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49153-CBB6-40AA-898B-BF379E0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DCBB-6D1E-44ED-A50D-DC34EE7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Реальна слабка точка: фільтр спрацьовував запізно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C2EA7-1085-447B-87D7-3AE1662C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B4EF9-DABF-4D76-BDEE-7DCDC6A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</a:defRPr>
            </a:pPr>
            <a:r>
              <a:rPr sz="1650" b="0">
                <a:solidFill>
                  <a:srgbClr val="344054"/>
                </a:solidFill>
              </a:rPr>
              <a:t>UI показував вибраний файл, але ranking ще конкурував з усім проєктом.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4860A-95F0-4813-A41C-5F7AF4C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AEFCB-8478-4B2F-9FFB-9566AA4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GLOBAL TOP-K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40F8-1ED8-4E9E-A97E-9ADE513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інші файли займають місця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DA675-B947-4126-9D0E-4B270243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8A2B3"/>
                </a:solidFill>
              </a:defRPr>
            </a:pPr>
            <a:r>
              <a:rPr sz="2850" b="1">
                <a:solidFill>
                  <a:srgbClr val="98A2B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6B189-1B9B-49AA-A1AD-47CF745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336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4F13E-5A78-411D-8040-7E665AF0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LATE 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15138-9ED0-48DB-B465-88BD81D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2D20"/>
                </a:solidFill>
              </a:defRPr>
            </a:pPr>
            <a:r>
              <a:rPr sz="1200" b="0">
                <a:solidFill>
                  <a:srgbClr val="D92D20"/>
                </a:solidFill>
              </a:rPr>
              <a:t>чужі chunks відкидаються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93534-061A-4B4D-98A5-4068591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8A2B3"/>
                </a:solidFill>
              </a:defRPr>
            </a:pPr>
            <a:r>
              <a:rPr sz="2850" b="1">
                <a:solidFill>
                  <a:srgbClr val="98A2B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A705B-DBC4-4E57-9FF5-4D392AE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336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87FDD-3BEE-41F8-A205-C7A4ECB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EMPTY / WEAK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93C06-ADBD-47E7-8E53-BEB6415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241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2D20"/>
                </a:solidFill>
              </a:defRPr>
            </a:pPr>
            <a:r>
              <a:rPr sz="1200" b="0">
                <a:solidFill>
                  <a:srgbClr val="D92D20"/>
                </a:solidFill>
              </a:rPr>
              <a:t>selected file не дійшов до rank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CA7DB-8BE1-4CE7-AD97-08760C79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71220-10D6-4B28-9484-1ECE581D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Чому це важливо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56C6F-6596-42BD-85BF-940461F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4054"/>
                </a:solidFill>
              </a:defRPr>
            </a:pPr>
            <a:r>
              <a:rPr sz="1800" b="0">
                <a:solidFill>
                  <a:srgbClr val="344054"/>
                </a:solidFill>
              </a:rPr>
              <a:t>Пізня фільтрація порушувала grounding contract: вибір corpus був візуальним, а не фактичним.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2BDE5-52DB-45FA-86B1-687D1924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не косметика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8413B-D26D-4EB1-8B02-A36CBD09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retrieval bug</a:t>
            </a:r>
          </a:p>
        </p:txBody>
      </p:sp>
    </p:spTree>
    <p:extLst>
      <p:ext uri="{BB962C8B-B14F-4D97-AF65-F5344CB8AC3E}">
        <p14:creationId xmlns:p14="http://schemas.microsoft.com/office/powerpoint/2010/main" val="87952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90474-295C-4B58-96E3-FFDC93E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DBFCA-6C0C-474A-9D31-6621C2B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ПОКРАЩЕННЯ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3699D-294C-444B-AFA3-C6BC276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Before / After: scope тепер працює до top-k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D698F-D2C6-48DD-A65A-627D91C4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20E1-5B9D-4F2D-9B4D-F45D16F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03287-0BA6-4C18-8ED3-0924086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2197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6CE9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C254E-AD8B-48F1-B9AC-53759E89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43DB-165C-4809-A530-AF0A0083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Global vector top‑1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EF43A-68A1-45F0-A511-1F00D8E5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2D20"/>
                </a:solidFill>
              </a:defRPr>
            </a:pPr>
            <a:r>
              <a:rPr sz="1575" b="0">
                <a:solidFill>
                  <a:srgbClr val="D92D20"/>
                </a:solidFill>
              </a:rPr>
              <a:t>other.md / chunk_b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F4409-789B-4E90-B933-82288DC1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↓ late file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917C0-4585-4EEB-8D95-ECF22FD1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D20"/>
                </a:solidFill>
              </a:defRPr>
            </a:pPr>
            <a:r>
              <a:rPr sz="1875" b="1">
                <a:solidFill>
                  <a:srgbClr val="D92D20"/>
                </a:solidFill>
              </a:rPr>
              <a:t>selected.md → 0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EE806-3587-4CCF-8E01-E747C2F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candidate_k 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7EC5B-DB4A-458B-A828-E68B3048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96E28-CCB8-481E-971B-65B671C9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Eligible document 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B4FA2-8ED1-459E-987D-E781D2D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39855"/>
                </a:solidFill>
              </a:defRPr>
            </a:pPr>
            <a:r>
              <a:rPr sz="1575" b="0">
                <a:solidFill>
                  <a:srgbClr val="039855"/>
                </a:solidFill>
              </a:rPr>
              <a:t>selected.md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E6F1C-A18F-45F6-89DE-98322E4F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↓ filter before cutoff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79FE7-7AF3-4C28-8874-14484F08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39855"/>
                </a:solidFill>
              </a:defRPr>
            </a:pPr>
            <a:r>
              <a:rPr sz="1875" b="1">
                <a:solidFill>
                  <a:srgbClr val="039855"/>
                </a:solidFill>
              </a:rPr>
              <a:t>chunk_a + citation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60B1D-2154-48BC-86CC-4B2D04F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48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regression test зафіксував поведінку</a:t>
            </a:r>
          </a:p>
        </p:txBody>
      </p:sp>
    </p:spTree>
    <p:extLst>
      <p:ext uri="{BB962C8B-B14F-4D97-AF65-F5344CB8AC3E}">
        <p14:creationId xmlns:p14="http://schemas.microsoft.com/office/powerpoint/2010/main" val="1103089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BF844-31F7-4A20-A00D-4ECE05B0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E2144-25B1-4E8C-9079-B6D24862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АРХІТЕКТУРА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6408-FA66-4FD3-B29E-006DD93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Від файлу до відповіді: повний керований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385F6-BDD4-4B28-8113-A788B954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CA60E-03C8-486B-BDAE-40B9679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Кожна стрілка — окремий перевірюваний стан. Повна PNG/SVG-схема додається до проєкту.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95ac01b0547e7">
            <a:extLst>
              <a:ext uri="{96DAC541-7B7A-43D3-8B79-37D633B846F1}">
                <asvg:svgBlip xmlns:asvg="http://schemas.microsoft.com/office/drawing/2016/SVG/main" r:embed="Re40eae44de5044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00200"/>
            <a:ext cx="11391900" cy="2990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BED5F-5578-4991-A274-4CD3E1A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74CC9-7057-49EC-BBF4-36DC51EE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0FFDD-A54D-4769-94AC-B7D968FB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67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зміни файлів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AFAA4-2E77-48D7-9C06-5643306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CDF67-DA60-4F95-8C47-E8189C9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AE7FE-AD72-43C6-8849-8E43376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67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corpus + representation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7AC10-430D-4A48-A9B7-08B5D4A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598AD-0C16-4AC1-AFB7-6686101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95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5554B-B75B-4AB4-B4CC-469947F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67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FAISS + BM25 + BGE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589CD-8D1D-4A12-9EEF-0961811A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14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B7BCA-4CD3-4F99-8F30-9778237C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95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6D69D-3F78-47C0-9E15-30AF614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67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gate + Qwen3 + citations</a:t>
            </a:r>
          </a:p>
        </p:txBody>
      </p:sp>
    </p:spTree>
    <p:extLst>
      <p:ext uri="{BB962C8B-B14F-4D97-AF65-F5344CB8AC3E}">
        <p14:creationId xmlns:p14="http://schemas.microsoft.com/office/powerpoint/2010/main" val="1793788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750144-265A-4BE0-96C9-DDF4C19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89857-4120-4640-9336-B92DFE8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ДАНІ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FC37A-D372-408B-8BF7-0A34460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Incremental sync: переіндексовуються тільки зміни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E5A9-626F-45B7-827B-4A14C34F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61431-BF44-48F2-A480-D33FFC36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80ED"/>
                </a:solidFill>
              </a:defRPr>
            </a:pPr>
            <a:r>
              <a:rPr sz="28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BD572-2B18-413E-857E-E693EEF1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Локальні файли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16825-6FCF-49EE-BB67-A02E70BD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size + mtime → SHA‑256 лише за потреби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.gitignore, secrets і binaries блокуються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4617D-96FF-4412-B842-2B9059F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46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888DE-0DA4-4FA3-B89E-72D7E94D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938EF"/>
                </a:solidFill>
              </a:defRPr>
            </a:pPr>
            <a:r>
              <a:rPr sz="2850" b="1">
                <a:solidFill>
                  <a:srgbClr val="6938E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46D98-F5E3-4CEC-93B7-09C22AA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Нарізка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14A4D-54A4-479D-9766-406AA94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Classic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0EFDC-43D8-4767-B242-A1E6100F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очищений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97B68-2F62-44EA-B652-E2C1CFDB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38EF"/>
                </a:solidFill>
              </a:defRPr>
            </a:pPr>
            <a:r>
              <a:rPr sz="1650" b="1">
                <a:solidFill>
                  <a:srgbClr val="6938EF"/>
                </a:solidFill>
              </a:rPr>
              <a:t>Developer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6B650-24A7-424D-B56A-FF34BD06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код + структура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1FB94-F970-466F-8B08-63ADB6B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6803"/>
                </a:solidFill>
              </a:defRPr>
            </a:pPr>
            <a:r>
              <a:rPr sz="1650" b="1">
                <a:solidFill>
                  <a:srgbClr val="DC6803"/>
                </a:solidFill>
              </a:rPr>
              <a:t>Mixed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C096E-08C0-450B-952D-BA1F92E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router обирає одне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89E49-F2A1-4D22-8FF6-3265F307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946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8092B-9C3D-45A5-ABAE-2879C45D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39855"/>
                </a:solidFill>
              </a:defRPr>
            </a:pPr>
            <a:r>
              <a:rPr sz="2850" b="1">
                <a:solidFill>
                  <a:srgbClr val="039855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D068B-5DB3-4AA6-AF1E-80EE910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Google Sheets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A6266-EB10-457D-A857-D3AA0D6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95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Files  ·  Chunks_Current  ·  Chunks_History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91B64-48E2-4837-A0BB-D19C9FD5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10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локально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F18AC-48CC-4C4E-8C2B-67AE2D5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FAISS + ID maps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92104-0101-4462-8951-58BADC49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39855"/>
                </a:solidFill>
              </a:defRPr>
            </a:pPr>
            <a:r>
              <a:rPr sz="1200" b="0">
                <a:solidFill>
                  <a:srgbClr val="039855"/>
                </a:solidFill>
              </a:rPr>
              <a:t>без тексту chunks</a:t>
            </a:r>
          </a:p>
        </p:txBody>
      </p:sp>
    </p:spTree>
    <p:extLst>
      <p:ext uri="{BB962C8B-B14F-4D97-AF65-F5344CB8AC3E}">
        <p14:creationId xmlns:p14="http://schemas.microsoft.com/office/powerpoint/2010/main" val="929414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0863E-137A-4F62-BE8E-972BE9A1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D02C7-653E-4E38-BE48-D300064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7E0BF-ECAA-41E2-A067-96B5EE3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Hybrid retrieval: текст читається лише для кандидатів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FCC77-5CE7-441A-A7E7-291BD3A1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16A68-7709-49A6-92D4-7BB0D181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ONLY 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C1A73-530F-415F-A98E-8CAE1B91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</a:defRPr>
            </a:pPr>
            <a:r>
              <a:rPr sz="1650" b="0">
                <a:solidFill>
                  <a:srgbClr val="344054"/>
                </a:solidFill>
              </a:rPr>
              <a:t>FAISS не тримає повний текст — він повертає chunk IDs.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87F2B-E405-446D-BBF4-A43EDB12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38EF"/>
                </a:solidFill>
              </a:defRPr>
            </a:pPr>
            <a:r>
              <a:rPr sz="1275" b="1">
                <a:solidFill>
                  <a:srgbClr val="6938EF"/>
                </a:solidFill>
              </a:rPr>
              <a:t>document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346F6-79F7-4CF2-ADC3-9CB6A1D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38EF"/>
                </a:solidFill>
              </a:defRPr>
            </a:pPr>
            <a:r>
              <a:rPr sz="1275" b="1">
                <a:solidFill>
                  <a:srgbClr val="6938EF"/>
                </a:solidFill>
              </a:rPr>
              <a:t>+ representation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2E146-5532-45CD-9C93-80E1831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38EF"/>
                </a:solidFill>
              </a:defRPr>
            </a:pPr>
            <a:r>
              <a:rPr sz="1275" b="1">
                <a:solidFill>
                  <a:srgbClr val="6938EF"/>
                </a:solidFill>
              </a:rPr>
              <a:t>+ Google row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46D45-8E4E-4983-9422-74C8E224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6803"/>
                </a:solidFill>
              </a:defRPr>
            </a:pPr>
            <a:r>
              <a:rPr sz="1650" b="1">
                <a:solidFill>
                  <a:srgbClr val="DC6803"/>
                </a:solidFill>
              </a:rPr>
              <a:t>ранній filter до candidate_k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D6C9-365F-4ED6-BBB3-8020F39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24000"/>
            <a:ext cx="4743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ADEDB-B10A-48C1-AA0A-BCABA0C3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FAISS semantic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D0E4-E1AA-484D-A5F5-5721DD4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</a:defRPr>
            </a:pPr>
            <a:r>
              <a:rPr sz="1800" b="1">
                <a:solidFill>
                  <a:srgbClr val="98A2B3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ECD8B-CD10-435A-B041-244C3F57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4743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C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44969-4FFC-4E1C-957C-ABC80DD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8602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C6803"/>
                </a:solidFill>
              </a:defRPr>
            </a:pPr>
            <a:r>
              <a:rPr sz="1575" b="1">
                <a:solidFill>
                  <a:srgbClr val="DC6803"/>
                </a:solidFill>
              </a:rPr>
              <a:t>EARLY MAP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09107-DCFF-4235-AF65-FCF7F65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</a:defRPr>
            </a:pPr>
            <a:r>
              <a:rPr sz="1800" b="1">
                <a:solidFill>
                  <a:srgbClr val="98A2B3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8571B-DB0A-41EF-AC8D-F4F2315D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62300"/>
            <a:ext cx="4743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54D79-6951-490F-9AAF-9626FA4E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051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Sheets batch fetch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3122A-E838-4B74-A93D-7275391B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</a:defRPr>
            </a:pPr>
            <a:r>
              <a:rPr sz="1800" b="1">
                <a:solidFill>
                  <a:srgbClr val="98A2B3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82760-744E-4A91-92D4-B4EEED1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81450"/>
            <a:ext cx="4743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91F16-0ED9-4055-BC67-5501C1F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2432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candidate BM25 + 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79D70-C5FA-4365-BB35-6E06E43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A2B3"/>
                </a:solidFill>
              </a:defRPr>
            </a:pPr>
            <a:r>
              <a:rPr sz="1800" b="1">
                <a:solidFill>
                  <a:srgbClr val="98A2B3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C7C79-3EE3-4FEA-9CF3-69B6BC4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4743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84A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0A03E-3368-4870-9057-4C31DC0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434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BGE reranking</a:t>
            </a:r>
          </a:p>
        </p:txBody>
      </p:sp>
    </p:spTree>
    <p:extLst>
      <p:ext uri="{BB962C8B-B14F-4D97-AF65-F5344CB8AC3E}">
        <p14:creationId xmlns:p14="http://schemas.microsoft.com/office/powerpoint/2010/main" val="1596097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A99E4-E5BC-4B59-9D93-B7DB341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E3097-43D2-48F9-9E80-B3B0139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БЕЗПЕКА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52D2E-D093-4193-90CA-650835A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Grounded answering: без доказів відповідь не генерується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93CA0-B29C-491F-A58E-76476827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F24B8-0297-4819-AB53-6BA6AE2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383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Достатньо evidence?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5C2B7-9F49-4FC8-9E62-8A3711A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8A2B3"/>
                </a:solidFill>
              </a:defRPr>
            </a:pPr>
            <a:r>
              <a:rPr sz="2850" b="1">
                <a:solidFill>
                  <a:srgbClr val="98A2B3"/>
                </a:solidFill>
              </a:rPr>
              <a:t>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69264-682B-4356-ADC3-1B92444D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8A2B3"/>
                </a:solidFill>
              </a:defRPr>
            </a:pPr>
            <a:r>
              <a:rPr sz="2850" b="1">
                <a:solidFill>
                  <a:srgbClr val="98A2B3"/>
                </a:solidFill>
              </a:rPr>
              <a:t>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CC323-4EE8-412C-ACB2-D1799704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481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74BB2-C011-4FE5-BD0E-54D1158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</a:defRPr>
            </a:pPr>
            <a:r>
              <a:rPr sz="1425" b="1">
                <a:solidFill>
                  <a:srgbClr val="D92D20"/>
                </a:solidFill>
              </a:rPr>
              <a:t>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7D662-A672-43A4-938A-79A1188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Honest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10579-555A-4600-B4ED-E2B1878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без вигаданої відповіді</a:t>
            </a:r>
          </a:p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без фальшивої citation</a:t>
            </a:r>
          </a:p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без stale local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44EFF-A1EF-4DFF-B05D-3408D31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42481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6CE9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7E976-7579-4E51-96D4-1044611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</a:defRPr>
            </a:pPr>
            <a:r>
              <a:rPr sz="1425" b="1">
                <a:solidFill>
                  <a:srgbClr val="039855"/>
                </a:solidFill>
              </a:rPr>
              <a:t>ТАК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AC109-A5E5-4019-948D-31335A27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Qwen3 → JSON → citations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9FD0A-683D-4ADF-9B29-2B60062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тільки final context</a:t>
            </a:r>
          </a:p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одна repair-спроба</a:t>
            </a:r>
          </a:p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• file / page / cell /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5FDDB-EF20-4D3F-BADA-34F2D5D5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2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6803"/>
                </a:solidFill>
              </a:defRPr>
            </a:pPr>
            <a:r>
              <a:rPr sz="1350" b="1">
                <a:solidFill>
                  <a:srgbClr val="DC6803"/>
                </a:solidFill>
              </a:rPr>
              <a:t>Google Sheets unavailable → safe sync error</a:t>
            </a:r>
          </a:p>
        </p:txBody>
      </p:sp>
    </p:spTree>
    <p:extLst>
      <p:ext uri="{BB962C8B-B14F-4D97-AF65-F5344CB8AC3E}">
        <p14:creationId xmlns:p14="http://schemas.microsoft.com/office/powerpoint/2010/main" val="377662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3240E-00EA-4061-86AD-AA99AAD3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BE9DE-ECEC-4CBC-BFE7-2A7B8AD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6E1C9-3219-407F-AB65-C7B025ED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Desktop demo: один інтерфейс для проєкту, чатів і джерел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E27C9-4991-4352-ADBA-35689416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821c63b27439a"/>
          <a:stretch xmlns:a="http://schemas.openxmlformats.org/drawingml/2006/main"/>
        </p:blipFill>
        <p:spPr>
          <a:xfrm xmlns:a="http://schemas.openxmlformats.org/drawingml/2006/main">
            <a:off x="932632" y="1352550"/>
            <a:ext cx="7545435" cy="4876800"/>
          </a:xfrm>
          <a:prstGeom xmlns:a="http://schemas.openxmlformats.org/drawingml/2006/main" prst="roundRect">
            <a:avLst>
              <a:gd name="adj" fmla="val 23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BA73B-E05C-4E4D-A8C3-660DBA2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95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B2048-DC5B-43BD-B17F-9930FDFB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7640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Проєкти-папки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і вкладені чати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CAA7-AD38-4542-8902-5ACD8970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69663-3DAB-4BC1-8158-DCE87B4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0C2A6-E191-4C71-9B9C-BE81C52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00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Corpus tree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і file preview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A9FDD-21AE-4B41-ABFD-B44E8E7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7665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B677D-92E2-4A7E-87F7-AE21D34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B62F1-8A6B-4212-BB1F-9D981D0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2430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Dependency graph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та citations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7E08C-6CBA-46F1-8121-3C1AE47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0060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9E2B1-FDD0-4EC2-8348-ED6C709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39855"/>
                </a:solidFill>
              </a:defRPr>
            </a:pPr>
            <a:r>
              <a:rPr sz="1725" b="1">
                <a:solidFill>
                  <a:srgbClr val="039855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378A0-4D0A-4C6E-9C7C-4DB38C1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482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rename · archive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restore · dedup</a:t>
            </a:r>
          </a:p>
        </p:txBody>
      </p:sp>
    </p:spTree>
    <p:extLst>
      <p:ext uri="{BB962C8B-B14F-4D97-AF65-F5344CB8AC3E}">
        <p14:creationId xmlns:p14="http://schemas.microsoft.com/office/powerpoint/2010/main" val="29911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DEECE-E7B9-4216-9218-36E27E35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759DF-CB79-4DD5-B086-94AD4307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BE669-73C9-423D-B30A-4F10E8E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Перевірено кодом, live sync і Windows-збіркою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1C4E6-CCD5-4F00-932F-7B0879B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40EE9-3213-4499-A8D1-9FD5D68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2F80ED"/>
                </a:solidFill>
              </a:defRPr>
            </a:pPr>
            <a:r>
              <a:rPr sz="5100" b="1">
                <a:solidFill>
                  <a:srgbClr val="2F80ED"/>
                </a:solidFill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7AB83-8CBA-4BF5-91C9-26CB427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passed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E190B-B2B0-4491-B448-77385C0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39855"/>
                </a:solidFill>
              </a:defRPr>
            </a:pPr>
            <a:r>
              <a:rPr sz="5100" b="1">
                <a:solidFill>
                  <a:srgbClr val="039855"/>
                </a:solidFill>
              </a:rPr>
              <a:t>975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32E95-5AAA-470C-A48C-77263A8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current chunks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D78CA-4224-4A27-AA4E-DDCFF6ED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6938EF"/>
                </a:solidFill>
              </a:defRPr>
            </a:pPr>
            <a:r>
              <a:rPr sz="5100" b="1">
                <a:solidFill>
                  <a:srgbClr val="6938EF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AB3D2-940C-4BCE-9167-ADB60FA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local text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D7957-18E5-43A6-8182-3FDBF72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E8165-64CB-4232-9F25-73BD3494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975 / 975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E1BEB-4852-4195-ABB2-C3924E2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vector IDs мають document + Google row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09192-398A-4A43-9D05-A88D44C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Python 3.12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286A1-7DFE-4AC3-9015-722EBA52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стабільний FAISS / Torch runtime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7E00B-2948-4B90-B6F1-178823B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EXE · MSI · NSIS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9137B-D8A9-40F2-838A-4ACA63F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24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production Tauri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F6DF3-D1E9-4AD1-88C6-9B81B5E9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Проєкт: «Сашен сайт» · live snapshot 02.09.2026</a:t>
            </a:r>
          </a:p>
        </p:txBody>
      </p:sp>
    </p:spTree>
    <p:extLst>
      <p:ext uri="{BB962C8B-B14F-4D97-AF65-F5344CB8AC3E}">
        <p14:creationId xmlns:p14="http://schemas.microsoft.com/office/powerpoint/2010/main" val="1460877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2F0ED-B02A-412F-8CC9-5EB2514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5324E-021E-42FE-9128-66CB6BF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ВИСНОВОК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69C82-1B34-4C8B-A623-31BE0CB4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Головний результат: corpus selector став реальною гарантією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37EA7-1058-4DD4-8F1F-030650E3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7A3D1-DAB7-4F76-AEB6-56E135B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DD5CD-133D-46E9-B718-005C71F4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Контрольований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267E5-5D33-49CA-9991-FEAABEF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фільтр до ranking і candidate cutoff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9F80-68ED-43AE-AF7A-6B715B1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2ED67-2D6E-4019-B02D-5A1EC0D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Актуальні дані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32B9B-9DA0-4C90-86F2-A08C15A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incremental sync + current/history versioning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662D8-2A90-4D9A-9AA7-33F4ADCD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82A4E-47E1-46B1-88F7-E17BDAF3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Чесна відповідь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8DF2A-B450-46FC-B876-54AC9034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evidence gate + citation validation +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753F9-3C22-4960-863D-25D7B1C0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357D1-80DA-4F63-BEEE-158CBEF3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76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Remaining 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C46E7-8CAF-478D-95EB-AD0889B3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• Sheets API latency та quotas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• threshold потребує ширшого eval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• OCR / media pipeline ще не готовий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• code editing свідомо вимкнений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8F92E-C076-4DA7-8316-411549CB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38EF"/>
                </a:solidFill>
              </a:defRPr>
            </a:pPr>
            <a:r>
              <a:rPr sz="1275" b="1">
                <a:solidFill>
                  <a:srgbClr val="6938EF"/>
                </a:solidFill>
              </a:rPr>
              <a:t>Наступний крок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5ADD5-3C9F-461C-846C-21CFD7E1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production DB + background sync + 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1B217-1F62-4042-AC20-13D16B02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Дякую. Готовий показати live demo.</a:t>
            </a:r>
          </a:p>
        </p:txBody>
      </p:sp>
    </p:spTree>
    <p:extLst>
      <p:ext uri="{BB962C8B-B14F-4D97-AF65-F5344CB8AC3E}">
        <p14:creationId xmlns:p14="http://schemas.microsoft.com/office/powerpoint/2010/main" val="1674244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2026-09-02T17:21:02.2810000Z</dcterms:created>
  <dcterms:modified xsi:type="dcterms:W3CDTF">2026-09-02T17:21:02.2810000Z</dcterms:modified>
</coreProperties>
</file>